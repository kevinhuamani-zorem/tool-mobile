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Encuadre: el recorder no genera 'un test'. Genera cuatro archivos que tienen que encajar entre sí y con lo que el squad ya tiene escrito. Los diagramas interactivos van aparte; esta baraja es el relato.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no hablamos de escribir un archivo: hablamos de encajar cuatro capas con lo que el squad ya escribió. Ese trabajo de reconocimiento es el que se lleva las horas, y es exactamente lo que el recorder automatiza antes de invocar a ningún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clave para la sala técnica: el recorder es dueño de la sesión y de los bytes que se escriben. El agente entra tarde y con un contexto recortado.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alguien pregunta por seguridad, este es el slide: el renderer no puede tocar el disco ni el driver, y cada canal nuevo obliga a actualizar handler, allowlist, tipos y pruebas a la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argumento central del proyecto: la IA no está para adivinar la arquitectura del framework, está para redactar lo que falta. Todo lo demás es determinista y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rol recibe solo su mitad del contexto: Lorem evidencia funcional, Zorem selectores y baselines, Sumrak los dos handoffs. Ninguno recibe el catálogo completo del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contrato provisional es lo que convierte dos etapas secuenciales en dos paralelas. El presupuesto se reporta y se muestra al QA, pero nunca recorta evidencia.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ahorro real: la memoria no es un caché de respuestas, es un índice de tramos ya redactados y de decisiones ya aceptadas. Escala con el uso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Ninguna de estas puertas depende del modelo: son código del recorder. El catálogo de reglas que viaja al paquete se construye leyendo el propio código fuente del validador, así que una regla nueva aparece sola en el contrato.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golden dataset cierra el ciclo: lo que el QA corrigió a mano se vuelve la referencia contra la que se mide el pipeline, y alimenta la memoria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honesto: lo que funciona, lo que falta y lo que viene. Los diagramas se muestran después, en pantalla completa, porque no caben aquí.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566928" y="1371600"/>
            <a:ext cx="10058400" cy="274320"/>
          </a:xfrm>
          <a:prstGeom prst="rect">
            <a:avLst/>
          </a:prstGeom>
          <a:noFill/>
          <a:ln/>
        </p:spPr>
        <p:txBody>
          <a:bodyPr wrap="square" lIns="0" tIns="0" rIns="0" bIns="0" rtlCol="0" anchor="ctr"/>
          <a:lstStyle/>
          <a:p>
            <a:pPr indent="0" marL="0">
              <a:buNone/>
            </a:pPr>
            <a:r>
              <a:rPr lang="en-US" sz="1200" b="1" spc="250" kern="0" dirty="0">
                <a:solidFill>
                  <a:srgbClr val="00A896"/>
                </a:solidFill>
                <a:latin typeface="Calibri" pitchFamily="34" charset="0"/>
                <a:ea typeface="Calibri" pitchFamily="34" charset="-122"/>
                <a:cs typeface="Calibri" pitchFamily="34" charset="-120"/>
              </a:rPr>
              <a:t>APPIUM VISUAL RECORDER · YAPE / BCP</a:t>
            </a:r>
            <a:endParaRPr lang="en-US" sz="1200" dirty="0"/>
          </a:p>
        </p:txBody>
      </p:sp>
      <p:sp>
        <p:nvSpPr>
          <p:cNvPr id="3" name="Text 1"/>
          <p:cNvSpPr txBox="1"/>
          <p:nvPr/>
        </p:nvSpPr>
        <p:spPr>
          <a:xfrm>
            <a:off x="566928" y="1828800"/>
            <a:ext cx="1042416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De la grabación al código aplicado</a:t>
            </a:r>
            <a:endParaRPr lang="en-US" sz="4400" dirty="0"/>
          </a:p>
        </p:txBody>
      </p:sp>
      <p:sp>
        <p:nvSpPr>
          <p:cNvPr id="4" name="Text 2"/>
          <p:cNvSpPr txBox="1"/>
          <p:nvPr/>
        </p:nvSpPr>
        <p:spPr>
          <a:xfrm>
            <a:off x="566928" y="2880360"/>
            <a:ext cx="7863840" cy="822960"/>
          </a:xfrm>
          <a:prstGeom prst="rect">
            <a:avLst/>
          </a:prstGeom>
          <a:noFill/>
          <a:ln/>
        </p:spPr>
        <p:txBody>
          <a:bodyPr wrap="square" lIns="0" tIns="0" rIns="0" bIns="0" rtlCol="0" anchor="ctr"/>
          <a:lstStyle/>
          <a:p>
            <a:pPr indent="0" marL="0">
              <a:lnSpc>
                <a:spcPts val="2200"/>
              </a:lnSpc>
              <a:buNone/>
            </a:pPr>
            <a:r>
              <a:rPr lang="en-US" sz="1500" dirty="0">
                <a:solidFill>
                  <a:srgbClr val="9AA6B2"/>
                </a:solidFill>
                <a:latin typeface="Calibri" pitchFamily="34" charset="0"/>
                <a:ea typeface="Calibri" pitchFamily="34" charset="-122"/>
                <a:cs typeface="Calibri" pitchFamily="34" charset="-120"/>
              </a:rPr>
              <a:t>Generación determinista de automatización móvil sobre fwk-mobile-test, con agentes acotados y puertas de calidad que deciden qué se escribe.</a:t>
            </a:r>
            <a:endParaRPr lang="en-US" sz="1500" dirty="0"/>
          </a:p>
        </p:txBody>
      </p:sp>
      <p:sp>
        <p:nvSpPr>
          <p:cNvPr id="5" name="Shape 3"/>
          <p:cNvSpPr/>
          <p:nvPr/>
        </p:nvSpPr>
        <p:spPr>
          <a:xfrm>
            <a:off x="566928" y="4343400"/>
            <a:ext cx="1600200" cy="658368"/>
          </a:xfrm>
          <a:prstGeom prst="roundRect">
            <a:avLst>
              <a:gd name="adj" fmla="val 11111"/>
            </a:avLst>
          </a:prstGeom>
          <a:solidFill>
            <a:srgbClr val="2A3646"/>
          </a:solidFill>
          <a:ln w="12700">
            <a:solidFill>
              <a:srgbClr val="2A3646"/>
            </a:solidFill>
            <a:prstDash val="solid"/>
          </a:ln>
        </p:spPr>
      </p:sp>
      <p:sp>
        <p:nvSpPr>
          <p:cNvPr id="6" name="Text 4"/>
          <p:cNvSpPr txBox="1"/>
          <p:nvPr/>
        </p:nvSpPr>
        <p:spPr>
          <a:xfrm>
            <a:off x="566928" y="4343400"/>
            <a:ext cx="1600200" cy="658368"/>
          </a:xfrm>
          <a:prstGeom prst="rect">
            <a:avLst/>
          </a:prstGeom>
          <a:noFill/>
          <a:ln/>
        </p:spPr>
        <p:txBody>
          <a:bodyPr wrap="square" lIns="0" tIns="0" rIns="0" bIns="0" rtlCol="0" anchor="ctr"/>
          <a:lstStyle/>
          <a:p>
            <a:pPr algn="ctr" indent="0" marL="0">
              <a:buNone/>
            </a:pPr>
            <a:r>
              <a:rPr lang="en-US" sz="1200" b="1" dirty="0">
                <a:solidFill>
                  <a:srgbClr val="00A896"/>
                </a:solidFill>
                <a:latin typeface="Calibri" pitchFamily="34" charset="0"/>
                <a:ea typeface="Calibri" pitchFamily="34" charset="-122"/>
                <a:cs typeface="Calibri" pitchFamily="34" charset="-120"/>
              </a:rPr>
              <a:t>.feature</a:t>
            </a:r>
            <a:endParaRPr lang="en-US" sz="1200" dirty="0"/>
          </a:p>
        </p:txBody>
      </p:sp>
      <p:sp>
        <p:nvSpPr>
          <p:cNvPr id="7" name="Shape 5"/>
          <p:cNvSpPr/>
          <p:nvPr/>
        </p:nvSpPr>
        <p:spPr>
          <a:xfrm>
            <a:off x="2350008" y="4343400"/>
            <a:ext cx="1600200" cy="658368"/>
          </a:xfrm>
          <a:prstGeom prst="roundRect">
            <a:avLst>
              <a:gd name="adj" fmla="val 11111"/>
            </a:avLst>
          </a:prstGeom>
          <a:solidFill>
            <a:srgbClr val="2A3646"/>
          </a:solidFill>
          <a:ln w="12700">
            <a:solidFill>
              <a:srgbClr val="2A3646"/>
            </a:solidFill>
            <a:prstDash val="solid"/>
          </a:ln>
        </p:spPr>
      </p:sp>
      <p:sp>
        <p:nvSpPr>
          <p:cNvPr id="8" name="Text 6"/>
          <p:cNvSpPr txBox="1"/>
          <p:nvPr/>
        </p:nvSpPr>
        <p:spPr>
          <a:xfrm>
            <a:off x="2350008" y="4343400"/>
            <a:ext cx="1600200" cy="658368"/>
          </a:xfrm>
          <a:prstGeom prst="rect">
            <a:avLst/>
          </a:prstGeom>
          <a:noFill/>
          <a:ln/>
        </p:spPr>
        <p:txBody>
          <a:bodyPr wrap="square" lIns="0" tIns="0" rIns="0" bIns="0" rtlCol="0" anchor="ctr"/>
          <a:lstStyle/>
          <a:p>
            <a:pPr algn="ctr" indent="0" marL="0">
              <a:buNone/>
            </a:pPr>
            <a:r>
              <a:rPr lang="en-US" sz="1200" b="1" dirty="0">
                <a:solidFill>
                  <a:srgbClr val="00A896"/>
                </a:solidFill>
                <a:latin typeface="Calibri" pitchFamily="34" charset="0"/>
                <a:ea typeface="Calibri" pitchFamily="34" charset="-122"/>
                <a:cs typeface="Calibri" pitchFamily="34" charset="-120"/>
              </a:rPr>
              <a:t>.steps.ts</a:t>
            </a:r>
            <a:endParaRPr lang="en-US" sz="1200" dirty="0"/>
          </a:p>
        </p:txBody>
      </p:sp>
      <p:sp>
        <p:nvSpPr>
          <p:cNvPr id="9" name="Shape 7"/>
          <p:cNvSpPr/>
          <p:nvPr/>
        </p:nvSpPr>
        <p:spPr>
          <a:xfrm>
            <a:off x="4133088" y="4343400"/>
            <a:ext cx="1600200" cy="658368"/>
          </a:xfrm>
          <a:prstGeom prst="roundRect">
            <a:avLst>
              <a:gd name="adj" fmla="val 11111"/>
            </a:avLst>
          </a:prstGeom>
          <a:solidFill>
            <a:srgbClr val="2A3646"/>
          </a:solidFill>
          <a:ln w="12700">
            <a:solidFill>
              <a:srgbClr val="2A3646"/>
            </a:solidFill>
            <a:prstDash val="solid"/>
          </a:ln>
        </p:spPr>
      </p:sp>
      <p:sp>
        <p:nvSpPr>
          <p:cNvPr id="10" name="Text 8"/>
          <p:cNvSpPr txBox="1"/>
          <p:nvPr/>
        </p:nvSpPr>
        <p:spPr>
          <a:xfrm>
            <a:off x="4133088" y="4343400"/>
            <a:ext cx="1600200" cy="658368"/>
          </a:xfrm>
          <a:prstGeom prst="rect">
            <a:avLst/>
          </a:prstGeom>
          <a:noFill/>
          <a:ln/>
        </p:spPr>
        <p:txBody>
          <a:bodyPr wrap="square" lIns="0" tIns="0" rIns="0" bIns="0" rtlCol="0" anchor="ctr"/>
          <a:lstStyle/>
          <a:p>
            <a:pPr algn="ctr" indent="0" marL="0">
              <a:buNone/>
            </a:pPr>
            <a:r>
              <a:rPr lang="en-US" sz="1200" b="1" dirty="0">
                <a:solidFill>
                  <a:srgbClr val="F2A65A"/>
                </a:solidFill>
                <a:latin typeface="Calibri" pitchFamily="34" charset="0"/>
                <a:ea typeface="Calibri" pitchFamily="34" charset="-122"/>
                <a:cs typeface="Calibri" pitchFamily="34" charset="-120"/>
              </a:rPr>
              <a:t>.screen.ts</a:t>
            </a:r>
            <a:endParaRPr lang="en-US" sz="1200" dirty="0"/>
          </a:p>
        </p:txBody>
      </p:sp>
      <p:sp>
        <p:nvSpPr>
          <p:cNvPr id="11" name="Shape 9"/>
          <p:cNvSpPr/>
          <p:nvPr/>
        </p:nvSpPr>
        <p:spPr>
          <a:xfrm>
            <a:off x="5916168" y="4343400"/>
            <a:ext cx="1600200" cy="658368"/>
          </a:xfrm>
          <a:prstGeom prst="roundRect">
            <a:avLst>
              <a:gd name="adj" fmla="val 11111"/>
            </a:avLst>
          </a:prstGeom>
          <a:solidFill>
            <a:srgbClr val="2A3646"/>
          </a:solidFill>
          <a:ln w="12700">
            <a:solidFill>
              <a:srgbClr val="2A3646"/>
            </a:solidFill>
            <a:prstDash val="solid"/>
          </a:ln>
        </p:spPr>
      </p:sp>
      <p:sp>
        <p:nvSpPr>
          <p:cNvPr id="12" name="Text 10"/>
          <p:cNvSpPr txBox="1"/>
          <p:nvPr/>
        </p:nvSpPr>
        <p:spPr>
          <a:xfrm>
            <a:off x="5916168" y="4343400"/>
            <a:ext cx="1600200" cy="658368"/>
          </a:xfrm>
          <a:prstGeom prst="rect">
            <a:avLst/>
          </a:prstGeom>
          <a:noFill/>
          <a:ln/>
        </p:spPr>
        <p:txBody>
          <a:bodyPr wrap="square" lIns="0" tIns="0" rIns="0" bIns="0" rtlCol="0" anchor="ctr"/>
          <a:lstStyle/>
          <a:p>
            <a:pPr algn="ctr" indent="0" marL="0">
              <a:buNone/>
            </a:pPr>
            <a:r>
              <a:rPr lang="en-US" sz="1200" b="1" dirty="0">
                <a:solidFill>
                  <a:srgbClr val="F2A65A"/>
                </a:solidFill>
                <a:latin typeface="Calibri" pitchFamily="34" charset="0"/>
                <a:ea typeface="Calibri" pitchFamily="34" charset="-122"/>
                <a:cs typeface="Calibri" pitchFamily="34" charset="-120"/>
              </a:rPr>
              <a:t>locators</a:t>
            </a:r>
            <a:endParaRPr lang="en-US" sz="1200" dirty="0"/>
          </a:p>
        </p:txBody>
      </p:sp>
      <p:sp>
        <p:nvSpPr>
          <p:cNvPr id="13" name="Text 11"/>
          <p:cNvSpPr txBox="1"/>
          <p:nvPr/>
        </p:nvSpPr>
        <p:spPr>
          <a:xfrm>
            <a:off x="566928" y="5102352"/>
            <a:ext cx="7315200" cy="274320"/>
          </a:xfrm>
          <a:prstGeom prst="rect">
            <a:avLst/>
          </a:prstGeom>
          <a:noFill/>
          <a:ln/>
        </p:spPr>
        <p:txBody>
          <a:bodyPr wrap="square" lIns="0" tIns="0" rIns="0" bIns="0" rtlCol="0" anchor="ctr"/>
          <a:lstStyle/>
          <a:p>
            <a:pPr indent="0" marL="0">
              <a:buNone/>
            </a:pPr>
            <a:r>
              <a:rPr lang="en-US" sz="1100" i="1" dirty="0">
                <a:solidFill>
                  <a:srgbClr val="6B7683"/>
                </a:solidFill>
                <a:latin typeface="Calibri" pitchFamily="34" charset="0"/>
                <a:ea typeface="Calibri" pitchFamily="34" charset="-122"/>
                <a:cs typeface="Calibri" pitchFamily="34" charset="-120"/>
              </a:rPr>
              <a:t>Las cuatro capas que un caso tiene que dejar consistentes</a:t>
            </a:r>
            <a:endParaRPr lang="en-US" sz="1100" dirty="0"/>
          </a:p>
        </p:txBody>
      </p:sp>
      <p:sp>
        <p:nvSpPr>
          <p:cNvPr id="14" name="Text 12"/>
          <p:cNvSpPr txBox="1"/>
          <p:nvPr/>
        </p:nvSpPr>
        <p:spPr>
          <a:xfrm>
            <a:off x="566928" y="6144768"/>
            <a:ext cx="10515600" cy="274320"/>
          </a:xfrm>
          <a:prstGeom prst="rect">
            <a:avLst/>
          </a:prstGeom>
          <a:noFill/>
          <a:ln/>
        </p:spPr>
        <p:txBody>
          <a:bodyPr wrap="square" lIns="0" tIns="0" rIns="0" bIns="0" rtlCol="0" anchor="ctr"/>
          <a:lstStyle/>
          <a:p>
            <a:pPr indent="0" marL="0">
              <a:buNone/>
            </a:pPr>
            <a:r>
              <a:rPr lang="en-US" sz="1100" dirty="0">
                <a:solidFill>
                  <a:srgbClr val="6B7683"/>
                </a:solidFill>
                <a:latin typeface="Calibri" pitchFamily="34" charset="0"/>
                <a:ea typeface="Calibri" pitchFamily="34" charset="-122"/>
                <a:cs typeface="Calibri" pitchFamily="34" charset="-120"/>
              </a:rPr>
              <a:t>Kevin Arnold · 7 de septiembre de 2026 · los diagramas interactivos se presentan aparte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EL PROBLEMA</a:t>
            </a:r>
            <a:endParaRPr lang="en-US" sz="1100" dirty="0"/>
          </a:p>
        </p:txBody>
      </p:sp>
      <p:sp>
        <p:nvSpPr>
          <p:cNvPr id="3" name="Text 1"/>
          <p:cNvSpPr txBox="1"/>
          <p:nvPr/>
        </p:nvSpPr>
        <p:spPr>
          <a:xfrm>
            <a:off x="566928" y="658368"/>
            <a:ext cx="11064240" cy="86868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Un caso no es un archivo: son cuatro que deben encajar</a:t>
            </a:r>
            <a:endParaRPr lang="en-US" sz="3000" dirty="0"/>
          </a:p>
        </p:txBody>
      </p:sp>
      <p:sp>
        <p:nvSpPr>
          <p:cNvPr id="4" name="Shape 2"/>
          <p:cNvSpPr/>
          <p:nvPr/>
        </p:nvSpPr>
        <p:spPr>
          <a:xfrm>
            <a:off x="566928" y="1874520"/>
            <a:ext cx="3474720" cy="1965960"/>
          </a:xfrm>
          <a:prstGeom prst="roundRect">
            <a:avLst>
              <a:gd name="adj" fmla="val 4186"/>
            </a:avLst>
          </a:prstGeom>
          <a:solidFill>
            <a:srgbClr val="F1F3F5"/>
          </a:solidFill>
          <a:ln w="12700">
            <a:solidFill>
              <a:srgbClr val="F1F3F5"/>
            </a:solidFill>
            <a:prstDash val="solid"/>
          </a:ln>
        </p:spPr>
      </p:sp>
      <p:sp>
        <p:nvSpPr>
          <p:cNvPr id="5" name="Text 3"/>
          <p:cNvSpPr txBox="1"/>
          <p:nvPr/>
        </p:nvSpPr>
        <p:spPr>
          <a:xfrm>
            <a:off x="795528" y="2011680"/>
            <a:ext cx="914400" cy="822960"/>
          </a:xfrm>
          <a:prstGeom prst="rect">
            <a:avLst/>
          </a:prstGeom>
          <a:noFill/>
          <a:ln/>
        </p:spPr>
        <p:txBody>
          <a:bodyPr wrap="square" lIns="0" tIns="0" rIns="0" bIns="0" rtlCol="0" anchor="ctr"/>
          <a:lstStyle/>
          <a:p>
            <a:pPr indent="0" marL="0">
              <a:buNone/>
            </a:pPr>
            <a:r>
              <a:rPr lang="en-US" sz="5400" b="1" dirty="0">
                <a:solidFill>
                  <a:srgbClr val="00A896"/>
                </a:solidFill>
                <a:latin typeface="Cambria" pitchFamily="34" charset="0"/>
                <a:ea typeface="Cambria" pitchFamily="34" charset="-122"/>
                <a:cs typeface="Cambria" pitchFamily="34" charset="-120"/>
              </a:rPr>
              <a:t>4</a:t>
            </a:r>
            <a:endParaRPr lang="en-US" sz="5400" dirty="0"/>
          </a:p>
        </p:txBody>
      </p:sp>
      <p:sp>
        <p:nvSpPr>
          <p:cNvPr id="6" name="Text 4"/>
          <p:cNvSpPr txBox="1"/>
          <p:nvPr/>
        </p:nvSpPr>
        <p:spPr>
          <a:xfrm>
            <a:off x="1664208" y="2148840"/>
            <a:ext cx="2194560" cy="45720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capas por caso</a:t>
            </a:r>
            <a:endParaRPr lang="en-US" sz="1400" dirty="0"/>
          </a:p>
        </p:txBody>
      </p:sp>
      <p:sp>
        <p:nvSpPr>
          <p:cNvPr id="7" name="Text 5"/>
          <p:cNvSpPr txBox="1"/>
          <p:nvPr/>
        </p:nvSpPr>
        <p:spPr>
          <a:xfrm>
            <a:off x="795528" y="2971800"/>
            <a:ext cx="3017520" cy="777240"/>
          </a:xfrm>
          <a:prstGeom prst="rect">
            <a:avLst/>
          </a:prstGeom>
          <a:noFill/>
          <a:ln/>
        </p:spPr>
        <p:txBody>
          <a:bodyPr wrap="square" lIns="0" tIns="0" rIns="0" bIns="0" rtlCol="0" anchor="t"/>
          <a:lstStyle/>
          <a:p>
            <a:pPr indent="0" marL="0">
              <a:lnSpc>
                <a:spcPts val="1500"/>
              </a:lnSpc>
              <a:buNone/>
            </a:pPr>
            <a:r>
              <a:rPr lang="en-US" sz="1150" dirty="0">
                <a:solidFill>
                  <a:srgbClr val="6B7683"/>
                </a:solidFill>
                <a:latin typeface="Calibri" pitchFamily="34" charset="0"/>
                <a:ea typeface="Calibri" pitchFamily="34" charset="-122"/>
                <a:cs typeface="Calibri" pitchFamily="34" charset="-120"/>
              </a:rPr>
              <a:t>Feature, Steps, Screen Object y Locators, coherentes entre sí</a:t>
            </a:r>
            <a:endParaRPr lang="en-US" sz="1150" dirty="0"/>
          </a:p>
        </p:txBody>
      </p:sp>
      <p:sp>
        <p:nvSpPr>
          <p:cNvPr id="8" name="Shape 6"/>
          <p:cNvSpPr/>
          <p:nvPr/>
        </p:nvSpPr>
        <p:spPr>
          <a:xfrm>
            <a:off x="4270248" y="1874520"/>
            <a:ext cx="3474720" cy="1965960"/>
          </a:xfrm>
          <a:prstGeom prst="roundRect">
            <a:avLst>
              <a:gd name="adj" fmla="val 4186"/>
            </a:avLst>
          </a:prstGeom>
          <a:solidFill>
            <a:srgbClr val="F1F3F5"/>
          </a:solidFill>
          <a:ln w="12700">
            <a:solidFill>
              <a:srgbClr val="F1F3F5"/>
            </a:solidFill>
            <a:prstDash val="solid"/>
          </a:ln>
        </p:spPr>
      </p:sp>
      <p:sp>
        <p:nvSpPr>
          <p:cNvPr id="9" name="Text 7"/>
          <p:cNvSpPr txBox="1"/>
          <p:nvPr/>
        </p:nvSpPr>
        <p:spPr>
          <a:xfrm>
            <a:off x="4498848" y="2011680"/>
            <a:ext cx="914400" cy="822960"/>
          </a:xfrm>
          <a:prstGeom prst="rect">
            <a:avLst/>
          </a:prstGeom>
          <a:noFill/>
          <a:ln/>
        </p:spPr>
        <p:txBody>
          <a:bodyPr wrap="square" lIns="0" tIns="0" rIns="0" bIns="0" rtlCol="0" anchor="ctr"/>
          <a:lstStyle/>
          <a:p>
            <a:pPr indent="0" marL="0">
              <a:buNone/>
            </a:pPr>
            <a:r>
              <a:rPr lang="en-US" sz="5400" b="1" dirty="0">
                <a:solidFill>
                  <a:srgbClr val="00A896"/>
                </a:solidFill>
                <a:latin typeface="Cambria" pitchFamily="34" charset="0"/>
                <a:ea typeface="Cambria" pitchFamily="34" charset="-122"/>
                <a:cs typeface="Cambria" pitchFamily="34" charset="-120"/>
              </a:rPr>
              <a:t>1</a:t>
            </a:r>
            <a:endParaRPr lang="en-US" sz="5400" dirty="0"/>
          </a:p>
        </p:txBody>
      </p:sp>
      <p:sp>
        <p:nvSpPr>
          <p:cNvPr id="10" name="Text 8"/>
          <p:cNvSpPr txBox="1"/>
          <p:nvPr/>
        </p:nvSpPr>
        <p:spPr>
          <a:xfrm>
            <a:off x="5367528" y="2148840"/>
            <a:ext cx="2194560" cy="45720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definición por línea</a:t>
            </a:r>
            <a:endParaRPr lang="en-US" sz="1400" dirty="0"/>
          </a:p>
        </p:txBody>
      </p:sp>
      <p:sp>
        <p:nvSpPr>
          <p:cNvPr id="11" name="Text 9"/>
          <p:cNvSpPr txBox="1"/>
          <p:nvPr/>
        </p:nvSpPr>
        <p:spPr>
          <a:xfrm>
            <a:off x="4498848" y="2971800"/>
            <a:ext cx="3017520" cy="777240"/>
          </a:xfrm>
          <a:prstGeom prst="rect">
            <a:avLst/>
          </a:prstGeom>
          <a:noFill/>
          <a:ln/>
        </p:spPr>
        <p:txBody>
          <a:bodyPr wrap="square" lIns="0" tIns="0" rIns="0" bIns="0" rtlCol="0" anchor="t"/>
          <a:lstStyle/>
          <a:p>
            <a:pPr indent="0" marL="0">
              <a:lnSpc>
                <a:spcPts val="1500"/>
              </a:lnSpc>
              <a:buNone/>
            </a:pPr>
            <a:r>
              <a:rPr lang="en-US" sz="1150" dirty="0">
                <a:solidFill>
                  <a:srgbClr val="6B7683"/>
                </a:solidFill>
                <a:latin typeface="Calibri" pitchFamily="34" charset="0"/>
                <a:ea typeface="Calibri" pitchFamily="34" charset="-122"/>
                <a:cs typeface="Calibri" pitchFamily="34" charset="-120"/>
              </a:rPr>
              <a:t>cada línea del Gherkin resuelve a exactamente un step de TODO el framework</a:t>
            </a:r>
            <a:endParaRPr lang="en-US" sz="1150" dirty="0"/>
          </a:p>
        </p:txBody>
      </p:sp>
      <p:sp>
        <p:nvSpPr>
          <p:cNvPr id="12" name="Shape 10"/>
          <p:cNvSpPr/>
          <p:nvPr/>
        </p:nvSpPr>
        <p:spPr>
          <a:xfrm>
            <a:off x="7973568" y="1874520"/>
            <a:ext cx="3474720" cy="1965960"/>
          </a:xfrm>
          <a:prstGeom prst="roundRect">
            <a:avLst>
              <a:gd name="adj" fmla="val 4186"/>
            </a:avLst>
          </a:prstGeom>
          <a:solidFill>
            <a:srgbClr val="F1F3F5"/>
          </a:solidFill>
          <a:ln w="12700">
            <a:solidFill>
              <a:srgbClr val="F1F3F5"/>
            </a:solidFill>
            <a:prstDash val="solid"/>
          </a:ln>
        </p:spPr>
      </p:sp>
      <p:sp>
        <p:nvSpPr>
          <p:cNvPr id="13" name="Text 11"/>
          <p:cNvSpPr txBox="1"/>
          <p:nvPr/>
        </p:nvSpPr>
        <p:spPr>
          <a:xfrm>
            <a:off x="8202168" y="2011680"/>
            <a:ext cx="914400" cy="822960"/>
          </a:xfrm>
          <a:prstGeom prst="rect">
            <a:avLst/>
          </a:prstGeom>
          <a:noFill/>
          <a:ln/>
        </p:spPr>
        <p:txBody>
          <a:bodyPr wrap="square" lIns="0" tIns="0" rIns="0" bIns="0" rtlCol="0" anchor="ctr"/>
          <a:lstStyle/>
          <a:p>
            <a:pPr indent="0" marL="0">
              <a:buNone/>
            </a:pPr>
            <a:r>
              <a:rPr lang="en-US" sz="5400" b="1" dirty="0">
                <a:solidFill>
                  <a:srgbClr val="00A896"/>
                </a:solidFill>
                <a:latin typeface="Cambria" pitchFamily="34" charset="0"/>
                <a:ea typeface="Cambria" pitchFamily="34" charset="-122"/>
                <a:cs typeface="Cambria" pitchFamily="34" charset="-120"/>
              </a:rPr>
              <a:t>2</a:t>
            </a:r>
            <a:endParaRPr lang="en-US" sz="5400" dirty="0"/>
          </a:p>
        </p:txBody>
      </p:sp>
      <p:sp>
        <p:nvSpPr>
          <p:cNvPr id="14" name="Text 12"/>
          <p:cNvSpPr txBox="1"/>
          <p:nvPr/>
        </p:nvSpPr>
        <p:spPr>
          <a:xfrm>
            <a:off x="9070848" y="2148840"/>
            <a:ext cx="2194560" cy="45720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plataformas por clave</a:t>
            </a:r>
            <a:endParaRPr lang="en-US" sz="1400" dirty="0"/>
          </a:p>
        </p:txBody>
      </p:sp>
      <p:sp>
        <p:nvSpPr>
          <p:cNvPr id="15" name="Text 13"/>
          <p:cNvSpPr txBox="1"/>
          <p:nvPr/>
        </p:nvSpPr>
        <p:spPr>
          <a:xfrm>
            <a:off x="8202168" y="2971800"/>
            <a:ext cx="3017520" cy="777240"/>
          </a:xfrm>
          <a:prstGeom prst="rect">
            <a:avLst/>
          </a:prstGeom>
          <a:noFill/>
          <a:ln/>
        </p:spPr>
        <p:txBody>
          <a:bodyPr wrap="square" lIns="0" tIns="0" rIns="0" bIns="0" rtlCol="0" anchor="t"/>
          <a:lstStyle/>
          <a:p>
            <a:pPr indent="0" marL="0">
              <a:lnSpc>
                <a:spcPts val="1500"/>
              </a:lnSpc>
              <a:buNone/>
            </a:pPr>
            <a:r>
              <a:rPr lang="en-US" sz="1150" dirty="0">
                <a:solidFill>
                  <a:srgbClr val="6B7683"/>
                </a:solidFill>
                <a:latin typeface="Calibri" pitchFamily="34" charset="0"/>
                <a:ea typeface="Calibri" pitchFamily="34" charset="-122"/>
                <a:cs typeface="Calibri" pitchFamily="34" charset="-120"/>
              </a:rPr>
              <a:t>Android e iOS conviven en el mismo locator administrado</a:t>
            </a:r>
            <a:endParaRPr lang="en-US" sz="1150" dirty="0"/>
          </a:p>
        </p:txBody>
      </p:sp>
      <p:sp>
        <p:nvSpPr>
          <p:cNvPr id="16" name="Text 14"/>
          <p:cNvSpPr txBox="1"/>
          <p:nvPr/>
        </p:nvSpPr>
        <p:spPr>
          <a:xfrm>
            <a:off x="566928" y="4251960"/>
            <a:ext cx="10515600" cy="32004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Lo que cuesta caro cuando se escribe a mano</a:t>
            </a:r>
            <a:endParaRPr lang="en-US" sz="1500" dirty="0"/>
          </a:p>
        </p:txBody>
      </p:sp>
      <p:sp>
        <p:nvSpPr>
          <p:cNvPr id="17" name="Text 15"/>
          <p:cNvSpPr txBox="1"/>
          <p:nvPr/>
        </p:nvSpPr>
        <p:spPr>
          <a:xfrm>
            <a:off x="566928" y="4709160"/>
            <a:ext cx="1088136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A3646"/>
                </a:solidFill>
                <a:latin typeface="Calibri" pitchFamily="34" charset="0"/>
                <a:ea typeface="Calibri" pitchFamily="34" charset="-122"/>
                <a:cs typeface="Calibri" pitchFamily="34" charset="-120"/>
              </a:rPr>
              <a:t>Descubrir qué Screen Object, qué step y qué locator ya existen en el squad, en Home y en commons antes de escribir uno nuevo</a:t>
            </a:r>
            <a:endParaRPr lang="en-US" sz="1400" dirty="0"/>
          </a:p>
          <a:p>
            <a:pPr marL="342900" indent="-342900">
              <a:spcAft>
                <a:spcPts val="800"/>
              </a:spcAft>
              <a:buSzPct val="100000"/>
              <a:buChar char="•"/>
            </a:pPr>
            <a:r>
              <a:rPr lang="en-US" sz="1400" dirty="0">
                <a:solidFill>
                  <a:srgbClr val="2A3646"/>
                </a:solidFill>
                <a:latin typeface="Calibri" pitchFamily="34" charset="0"/>
                <a:ea typeface="Calibri" pitchFamily="34" charset="-122"/>
                <a:cs typeface="Calibri" pitchFamily="34" charset="-120"/>
              </a:rPr>
              <a:t>Redactar Gherkin que no colisione con otra definición del framework y que no deje el dato de Examples fijo dentro del Screen</a:t>
            </a:r>
            <a:endParaRPr lang="en-US" sz="1400" dirty="0"/>
          </a:p>
          <a:p>
            <a:pPr marL="342900" indent="-342900">
              <a:spcAft>
                <a:spcPts val="800"/>
              </a:spcAft>
              <a:buSzPct val="100000"/>
              <a:buChar char="•"/>
            </a:pPr>
            <a:r>
              <a:rPr lang="en-US" sz="1400" dirty="0">
                <a:solidFill>
                  <a:srgbClr val="2A3646"/>
                </a:solidFill>
                <a:latin typeface="Calibri" pitchFamily="34" charset="0"/>
                <a:ea typeface="Calibri" pitchFamily="34" charset="-122"/>
                <a:cs typeface="Calibri" pitchFamily="34" charset="-120"/>
              </a:rPr>
              <a:t>Completar la otra plataforma meses después, sin romper la que ya funcionaba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QUÉ ES</a:t>
            </a:r>
            <a:endParaRPr lang="en-US" sz="1100" dirty="0"/>
          </a:p>
        </p:txBody>
      </p:sp>
      <p:sp>
        <p:nvSpPr>
          <p:cNvPr id="3" name="Text 1"/>
          <p:cNvSpPr txBox="1"/>
          <p:nvPr/>
        </p:nvSpPr>
        <p:spPr>
          <a:xfrm>
            <a:off x="566928" y="658368"/>
            <a:ext cx="11064240" cy="86868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Una app que graba el flujo real y propone los cuatro archivos</a:t>
            </a:r>
            <a:endParaRPr lang="en-US" sz="3000" dirty="0"/>
          </a:p>
        </p:txBody>
      </p:sp>
      <p:sp>
        <p:nvSpPr>
          <p:cNvPr id="4" name="Text 2"/>
          <p:cNvSpPr txBox="1"/>
          <p:nvPr/>
        </p:nvSpPr>
        <p:spPr>
          <a:xfrm>
            <a:off x="566928" y="1874520"/>
            <a:ext cx="6675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A3646"/>
                </a:solidFill>
                <a:latin typeface="Calibri" pitchFamily="34" charset="0"/>
                <a:ea typeface="Calibri" pitchFamily="34" charset="-122"/>
                <a:cs typeface="Calibri" pitchFamily="34" charset="-120"/>
              </a:rPr>
              <a:t>App Electron —proceso principal en TypeScript y renderer React— siempre enlazada a una raíz válida de fwk-mobile-test</a:t>
            </a:r>
            <a:endParaRPr lang="en-US" sz="1400" dirty="0"/>
          </a:p>
          <a:p>
            <a:pPr marL="342900" indent="-342900">
              <a:spcAft>
                <a:spcPts val="800"/>
              </a:spcAft>
              <a:buSzPct val="100000"/>
              <a:buChar char="•"/>
            </a:pPr>
            <a:r>
              <a:rPr lang="en-US" sz="1400" dirty="0">
                <a:solidFill>
                  <a:srgbClr val="2A3646"/>
                </a:solidFill>
                <a:latin typeface="Calibri" pitchFamily="34" charset="0"/>
                <a:ea typeface="Calibri" pitchFamily="34" charset="-122"/>
                <a:cs typeface="Calibri" pitchFamily="34" charset="-120"/>
              </a:rPr>
              <a:t>Sesión local o BrowserStack: el recorder crea el driver, es dueño de la sesión y la cierra; screenshot, XML, taps y ejecución pasan siempre por IPC</a:t>
            </a:r>
            <a:endParaRPr lang="en-US" sz="1400" dirty="0"/>
          </a:p>
          <a:p>
            <a:pPr marL="342900" indent="-342900">
              <a:spcAft>
                <a:spcPts val="800"/>
              </a:spcAft>
              <a:buSzPct val="100000"/>
              <a:buChar char="•"/>
            </a:pPr>
            <a:r>
              <a:rPr lang="en-US" sz="1400" dirty="0">
                <a:solidFill>
                  <a:srgbClr val="2A3646"/>
                </a:solidFill>
                <a:latin typeface="Calibri" pitchFamily="34" charset="0"/>
                <a:ea typeface="Calibri" pitchFamily="34" charset="-122"/>
                <a:cs typeface="Calibri" pitchFamily="34" charset="-120"/>
              </a:rPr>
              <a:t>El QA graba acciones y escribe la intención funcional; no redacta Gherkin ni asigna nombres técnicos de locator</a:t>
            </a:r>
            <a:endParaRPr lang="en-US" sz="1400" dirty="0"/>
          </a:p>
          <a:p>
            <a:pPr marL="342900" indent="-342900">
              <a:spcAft>
                <a:spcPts val="800"/>
              </a:spcAft>
              <a:buSzPct val="100000"/>
              <a:buChar char="•"/>
            </a:pPr>
            <a:r>
              <a:rPr lang="en-US" sz="1400" dirty="0">
                <a:solidFill>
                  <a:srgbClr val="2A3646"/>
                </a:solidFill>
                <a:latin typeface="Calibri" pitchFamily="34" charset="0"/>
                <a:ea typeface="Calibri" pitchFamily="34" charset="-122"/>
                <a:cs typeface="Calibri" pitchFamily="34" charset="-120"/>
              </a:rPr>
              <a:t>El Appium Inspector va embebido en una ventana aislada y solo devuelve el selector que el QA confirma explícitamente</a:t>
            </a:r>
            <a:endParaRPr lang="en-US" sz="1400" dirty="0"/>
          </a:p>
        </p:txBody>
      </p:sp>
      <p:sp>
        <p:nvSpPr>
          <p:cNvPr id="5" name="Shape 3"/>
          <p:cNvSpPr/>
          <p:nvPr/>
        </p:nvSpPr>
        <p:spPr>
          <a:xfrm>
            <a:off x="7589520" y="1874520"/>
            <a:ext cx="4023360" cy="3566160"/>
          </a:xfrm>
          <a:prstGeom prst="roundRect">
            <a:avLst>
              <a:gd name="adj" fmla="val 2308"/>
            </a:avLst>
          </a:prstGeom>
          <a:solidFill>
            <a:srgbClr val="1B2430"/>
          </a:solidFill>
          <a:ln w="12700">
            <a:solidFill>
              <a:srgbClr val="1B2430"/>
            </a:solidFill>
            <a:prstDash val="solid"/>
          </a:ln>
        </p:spPr>
      </p:sp>
      <p:sp>
        <p:nvSpPr>
          <p:cNvPr id="6" name="Text 4"/>
          <p:cNvSpPr txBox="1"/>
          <p:nvPr/>
        </p:nvSpPr>
        <p:spPr>
          <a:xfrm>
            <a:off x="7909560" y="2148840"/>
            <a:ext cx="3383280" cy="365760"/>
          </a:xfrm>
          <a:prstGeom prst="rect">
            <a:avLst/>
          </a:prstGeom>
          <a:noFill/>
          <a:ln/>
        </p:spPr>
        <p:txBody>
          <a:bodyPr wrap="square" lIns="0" tIns="0" rIns="0" bIns="0" rtlCol="0" anchor="ctr"/>
          <a:lstStyle/>
          <a:p>
            <a:pPr indent="0" marL="0">
              <a:buNone/>
            </a:pPr>
            <a:r>
              <a:rPr lang="en-US" sz="1500" b="1" dirty="0">
                <a:solidFill>
                  <a:srgbClr val="F2A65A"/>
                </a:solidFill>
                <a:latin typeface="Calibri" pitchFamily="34" charset="0"/>
                <a:ea typeface="Calibri" pitchFamily="34" charset="-122"/>
                <a:cs typeface="Calibri" pitchFamily="34" charset="-120"/>
              </a:rPr>
              <a:t>Lo que el recorder no hace</a:t>
            </a:r>
            <a:endParaRPr lang="en-US" sz="1500" dirty="0"/>
          </a:p>
        </p:txBody>
      </p:sp>
      <p:sp>
        <p:nvSpPr>
          <p:cNvPr id="7" name="Text 5"/>
          <p:cNvSpPr txBox="1"/>
          <p:nvPr/>
        </p:nvSpPr>
        <p:spPr>
          <a:xfrm>
            <a:off x="7909560" y="2697480"/>
            <a:ext cx="3429000" cy="256032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E6EAEF"/>
                </a:solidFill>
                <a:latin typeface="Calibri" pitchFamily="34" charset="0"/>
                <a:ea typeface="Calibri" pitchFamily="34" charset="-122"/>
                <a:cs typeface="Calibri" pitchFamily="34" charset="-120"/>
              </a:rPr>
              <a:t>No manda el repositorio completo a un modelo: la IA solo ve los gaps abiertos</a:t>
            </a:r>
            <a:endParaRPr lang="en-US" sz="1300" dirty="0"/>
          </a:p>
          <a:p>
            <a:pPr marL="342900" indent="-342900">
              <a:spcAft>
                <a:spcPts val="1000"/>
              </a:spcAft>
              <a:buSzPct val="100000"/>
              <a:buChar char="•"/>
            </a:pPr>
            <a:r>
              <a:rPr lang="en-US" sz="1300" dirty="0">
                <a:solidFill>
                  <a:srgbClr val="E6EAEF"/>
                </a:solidFill>
                <a:latin typeface="Calibri" pitchFamily="34" charset="0"/>
                <a:ea typeface="Calibri" pitchFamily="34" charset="-122"/>
                <a:cs typeface="Calibri" pitchFamily="34" charset="-120"/>
              </a:rPr>
              <a:t>No deja que el agente cambie rutas ni selectores ya verificados</a:t>
            </a:r>
            <a:endParaRPr lang="en-US" sz="1300" dirty="0"/>
          </a:p>
          <a:p>
            <a:pPr marL="342900" indent="-342900">
              <a:spcAft>
                <a:spcPts val="1000"/>
              </a:spcAft>
              <a:buSzPct val="100000"/>
              <a:buChar char="•"/>
            </a:pPr>
            <a:r>
              <a:rPr lang="en-US" sz="1300" dirty="0">
                <a:solidFill>
                  <a:srgbClr val="E6EAEF"/>
                </a:solidFill>
                <a:latin typeface="Calibri" pitchFamily="34" charset="0"/>
                <a:ea typeface="Calibri" pitchFamily="34" charset="-122"/>
                <a:cs typeface="Calibri" pitchFamily="34" charset="-120"/>
              </a:rPr>
              <a:t>No escribe nada en el framework sin preview, snapshot y recibo</a:t>
            </a:r>
            <a:endParaRPr lang="en-US" sz="1300" dirty="0"/>
          </a:p>
        </p:txBody>
      </p:sp>
      <p:sp>
        <p:nvSpPr>
          <p:cNvPr id="8" name="Text 6"/>
          <p:cNvSpPr txBox="1"/>
          <p:nvPr/>
        </p:nvSpPr>
        <p:spPr>
          <a:xfrm>
            <a:off x="566928" y="5669280"/>
            <a:ext cx="11064240" cy="365760"/>
          </a:xfrm>
          <a:prstGeom prst="rect">
            <a:avLst/>
          </a:prstGeom>
          <a:noFill/>
          <a:ln/>
        </p:spPr>
        <p:txBody>
          <a:bodyPr wrap="square" lIns="0" tIns="0" rIns="0" bIns="0" rtlCol="0" anchor="ctr"/>
          <a:lstStyle/>
          <a:p>
            <a:pPr indent="0" marL="0">
              <a:buNone/>
            </a:pPr>
            <a:r>
              <a:rPr lang="en-US" sz="1300" i="1" dirty="0">
                <a:solidFill>
                  <a:srgbClr val="6B7683"/>
                </a:solidFill>
                <a:latin typeface="Calibri" pitchFamily="34" charset="0"/>
                <a:ea typeface="Calibri" pitchFamily="34" charset="-122"/>
                <a:cs typeface="Calibri" pitchFamily="34" charset="-120"/>
              </a:rPr>
              <a:t>La generación determinista es el modo predeterminado; el modo legacy queda solo como opt-in técnico.</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ARQUITECTURA</a:t>
            </a:r>
            <a:endParaRPr lang="en-US" sz="1100" dirty="0"/>
          </a:p>
        </p:txBody>
      </p:sp>
      <p:sp>
        <p:nvSpPr>
          <p:cNvPr id="3" name="Text 1"/>
          <p:cNvSpPr txBox="1"/>
          <p:nvPr/>
        </p:nvSpPr>
        <p:spPr>
          <a:xfrm>
            <a:off x="566928" y="658368"/>
            <a:ext cx="11064240" cy="86868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Tres piezas y una frontera que no se cruza</a:t>
            </a:r>
            <a:endParaRPr lang="en-US" sz="3000" dirty="0"/>
          </a:p>
        </p:txBody>
      </p:sp>
      <p:sp>
        <p:nvSpPr>
          <p:cNvPr id="4" name="Shape 2"/>
          <p:cNvSpPr/>
          <p:nvPr/>
        </p:nvSpPr>
        <p:spPr>
          <a:xfrm>
            <a:off x="566928" y="1874520"/>
            <a:ext cx="3474720" cy="2651760"/>
          </a:xfrm>
          <a:prstGeom prst="roundRect">
            <a:avLst>
              <a:gd name="adj" fmla="val 3103"/>
            </a:avLst>
          </a:prstGeom>
          <a:solidFill>
            <a:srgbClr val="F1F3F5"/>
          </a:solidFill>
          <a:ln w="12700">
            <a:solidFill>
              <a:srgbClr val="F1F3F5"/>
            </a:solidFill>
            <a:prstDash val="solid"/>
          </a:ln>
        </p:spPr>
      </p:sp>
      <p:sp>
        <p:nvSpPr>
          <p:cNvPr id="5" name="Shape 3"/>
          <p:cNvSpPr/>
          <p:nvPr/>
        </p:nvSpPr>
        <p:spPr>
          <a:xfrm>
            <a:off x="841248" y="2148840"/>
            <a:ext cx="457200" cy="457200"/>
          </a:xfrm>
          <a:prstGeom prst="ellipse">
            <a:avLst/>
          </a:prstGeom>
          <a:solidFill>
            <a:srgbClr val="00A896"/>
          </a:solidFill>
          <a:ln w="12700">
            <a:solidFill>
              <a:srgbClr val="00A896"/>
            </a:solidFill>
            <a:prstDash val="solid"/>
          </a:ln>
        </p:spPr>
      </p:sp>
      <p:sp>
        <p:nvSpPr>
          <p:cNvPr id="6" name="Text 4"/>
          <p:cNvSpPr txBox="1"/>
          <p:nvPr/>
        </p:nvSpPr>
        <p:spPr>
          <a:xfrm>
            <a:off x="841248" y="21488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7" name="Text 5"/>
          <p:cNvSpPr txBox="1"/>
          <p:nvPr/>
        </p:nvSpPr>
        <p:spPr>
          <a:xfrm>
            <a:off x="1435608" y="2148840"/>
            <a:ext cx="2377440" cy="45720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Renderer React</a:t>
            </a:r>
            <a:endParaRPr lang="en-US" sz="1500" dirty="0"/>
          </a:p>
        </p:txBody>
      </p:sp>
      <p:sp>
        <p:nvSpPr>
          <p:cNvPr id="8" name="Text 6"/>
          <p:cNvSpPr txBox="1"/>
          <p:nvPr/>
        </p:nvSpPr>
        <p:spPr>
          <a:xfrm>
            <a:off x="841248" y="2834640"/>
            <a:ext cx="2926080" cy="1554480"/>
          </a:xfrm>
          <a:prstGeom prst="rect">
            <a:avLst/>
          </a:prstGeom>
          <a:noFill/>
          <a:ln/>
        </p:spPr>
        <p:txBody>
          <a:bodyPr wrap="square" lIns="0" tIns="0" rIns="0" bIns="0" rtlCol="0" anchor="t"/>
          <a:lstStyle/>
          <a:p>
            <a:pPr indent="0" marL="0">
              <a:lnSpc>
                <a:spcPts val="1600"/>
              </a:lnSpc>
              <a:buNone/>
            </a:pPr>
            <a:r>
              <a:rPr lang="en-US" sz="1250" dirty="0">
                <a:solidFill>
                  <a:srgbClr val="6B7683"/>
                </a:solidFill>
                <a:latin typeface="Calibri" pitchFamily="34" charset="0"/>
                <a:ea typeface="Calibri" pitchFamily="34" charset="-122"/>
                <a:cs typeface="Calibri" pitchFamily="34" charset="-120"/>
              </a:rPr>
              <a:t>Una carpeta por feature con dependencias explícitas y un composition root delgado. Corre sin Node y sin acceso al disco.</a:t>
            </a:r>
            <a:endParaRPr lang="en-US" sz="1250" dirty="0"/>
          </a:p>
        </p:txBody>
      </p:sp>
      <p:sp>
        <p:nvSpPr>
          <p:cNvPr id="9" name="Shape 7"/>
          <p:cNvSpPr/>
          <p:nvPr/>
        </p:nvSpPr>
        <p:spPr>
          <a:xfrm>
            <a:off x="4270248" y="1874520"/>
            <a:ext cx="3474720" cy="2651760"/>
          </a:xfrm>
          <a:prstGeom prst="roundRect">
            <a:avLst>
              <a:gd name="adj" fmla="val 3103"/>
            </a:avLst>
          </a:prstGeom>
          <a:solidFill>
            <a:srgbClr val="F1F3F5"/>
          </a:solidFill>
          <a:ln w="12700">
            <a:solidFill>
              <a:srgbClr val="F1F3F5"/>
            </a:solidFill>
            <a:prstDash val="solid"/>
          </a:ln>
        </p:spPr>
      </p:sp>
      <p:sp>
        <p:nvSpPr>
          <p:cNvPr id="10" name="Shape 8"/>
          <p:cNvSpPr/>
          <p:nvPr/>
        </p:nvSpPr>
        <p:spPr>
          <a:xfrm>
            <a:off x="4544568" y="2148840"/>
            <a:ext cx="457200" cy="457200"/>
          </a:xfrm>
          <a:prstGeom prst="ellipse">
            <a:avLst/>
          </a:prstGeom>
          <a:solidFill>
            <a:srgbClr val="F2A65A"/>
          </a:solidFill>
          <a:ln w="12700">
            <a:solidFill>
              <a:srgbClr val="F2A65A"/>
            </a:solidFill>
            <a:prstDash val="solid"/>
          </a:ln>
        </p:spPr>
      </p:sp>
      <p:sp>
        <p:nvSpPr>
          <p:cNvPr id="11" name="Text 9"/>
          <p:cNvSpPr txBox="1"/>
          <p:nvPr/>
        </p:nvSpPr>
        <p:spPr>
          <a:xfrm>
            <a:off x="4544568" y="21488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2" name="Text 10"/>
          <p:cNvSpPr txBox="1"/>
          <p:nvPr/>
        </p:nvSpPr>
        <p:spPr>
          <a:xfrm>
            <a:off x="5138928" y="2148840"/>
            <a:ext cx="2377440" cy="45720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preload.ts</a:t>
            </a:r>
            <a:endParaRPr lang="en-US" sz="1500" dirty="0"/>
          </a:p>
        </p:txBody>
      </p:sp>
      <p:sp>
        <p:nvSpPr>
          <p:cNvPr id="13" name="Text 11"/>
          <p:cNvSpPr txBox="1"/>
          <p:nvPr/>
        </p:nvSpPr>
        <p:spPr>
          <a:xfrm>
            <a:off x="4544568" y="2834640"/>
            <a:ext cx="2926080" cy="1554480"/>
          </a:xfrm>
          <a:prstGeom prst="rect">
            <a:avLst/>
          </a:prstGeom>
          <a:noFill/>
          <a:ln/>
        </p:spPr>
        <p:txBody>
          <a:bodyPr wrap="square" lIns="0" tIns="0" rIns="0" bIns="0" rtlCol="0" anchor="t"/>
          <a:lstStyle/>
          <a:p>
            <a:pPr indent="0" marL="0">
              <a:lnSpc>
                <a:spcPts val="1600"/>
              </a:lnSpc>
              <a:buNone/>
            </a:pPr>
            <a:r>
              <a:rPr lang="en-US" sz="1250" dirty="0">
                <a:solidFill>
                  <a:srgbClr val="6B7683"/>
                </a:solidFill>
                <a:latin typeface="Calibri" pitchFamily="34" charset="0"/>
                <a:ea typeface="Calibri" pitchFamily="34" charset="-122"/>
                <a:cs typeface="Calibri" pitchFamily="34" charset="-120"/>
              </a:rPr>
              <a:t>La allowlist de IPC: 53 canales agrupados por familia. Es el único contrato entre la interfaz y el proceso principal.</a:t>
            </a:r>
            <a:endParaRPr lang="en-US" sz="1250" dirty="0"/>
          </a:p>
        </p:txBody>
      </p:sp>
      <p:sp>
        <p:nvSpPr>
          <p:cNvPr id="14" name="Shape 12"/>
          <p:cNvSpPr/>
          <p:nvPr/>
        </p:nvSpPr>
        <p:spPr>
          <a:xfrm>
            <a:off x="7973568" y="1874520"/>
            <a:ext cx="3474720" cy="2651760"/>
          </a:xfrm>
          <a:prstGeom prst="roundRect">
            <a:avLst>
              <a:gd name="adj" fmla="val 3103"/>
            </a:avLst>
          </a:prstGeom>
          <a:solidFill>
            <a:srgbClr val="F1F3F5"/>
          </a:solidFill>
          <a:ln w="12700">
            <a:solidFill>
              <a:srgbClr val="F1F3F5"/>
            </a:solidFill>
            <a:prstDash val="solid"/>
          </a:ln>
        </p:spPr>
      </p:sp>
      <p:sp>
        <p:nvSpPr>
          <p:cNvPr id="15" name="Shape 13"/>
          <p:cNvSpPr/>
          <p:nvPr/>
        </p:nvSpPr>
        <p:spPr>
          <a:xfrm>
            <a:off x="8247888" y="2148840"/>
            <a:ext cx="457200" cy="457200"/>
          </a:xfrm>
          <a:prstGeom prst="ellipse">
            <a:avLst/>
          </a:prstGeom>
          <a:solidFill>
            <a:srgbClr val="00A896"/>
          </a:solidFill>
          <a:ln w="12700">
            <a:solidFill>
              <a:srgbClr val="00A896"/>
            </a:solidFill>
            <a:prstDash val="solid"/>
          </a:ln>
        </p:spPr>
      </p:sp>
      <p:sp>
        <p:nvSpPr>
          <p:cNvPr id="16" name="Text 14"/>
          <p:cNvSpPr txBox="1"/>
          <p:nvPr/>
        </p:nvSpPr>
        <p:spPr>
          <a:xfrm>
            <a:off x="8247888" y="21488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7" name="Text 15"/>
          <p:cNvSpPr txBox="1"/>
          <p:nvPr/>
        </p:nvSpPr>
        <p:spPr>
          <a:xfrm>
            <a:off x="8842248" y="2148840"/>
            <a:ext cx="2377440" cy="45720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Electron main + core/</a:t>
            </a:r>
            <a:endParaRPr lang="en-US" sz="1500" dirty="0"/>
          </a:p>
        </p:txBody>
      </p:sp>
      <p:sp>
        <p:nvSpPr>
          <p:cNvPr id="18" name="Text 16"/>
          <p:cNvSpPr txBox="1"/>
          <p:nvPr/>
        </p:nvSpPr>
        <p:spPr>
          <a:xfrm>
            <a:off x="8247888" y="2834640"/>
            <a:ext cx="2926080" cy="1554480"/>
          </a:xfrm>
          <a:prstGeom prst="rect">
            <a:avLst/>
          </a:prstGeom>
          <a:noFill/>
          <a:ln/>
        </p:spPr>
        <p:txBody>
          <a:bodyPr wrap="square" lIns="0" tIns="0" rIns="0" bIns="0" rtlCol="0" anchor="t"/>
          <a:lstStyle/>
          <a:p>
            <a:pPr indent="0" marL="0">
              <a:lnSpc>
                <a:spcPts val="1600"/>
              </a:lnSpc>
              <a:buNone/>
            </a:pPr>
            <a:r>
              <a:rPr lang="en-US" sz="1250" dirty="0">
                <a:solidFill>
                  <a:srgbClr val="6B7683"/>
                </a:solidFill>
                <a:latin typeface="Calibri" pitchFamily="34" charset="0"/>
                <a:ea typeface="Calibri" pitchFamily="34" charset="-122"/>
                <a:cs typeface="Calibri" pitchFamily="34" charset="-120"/>
              </a:rPr>
              <a:t>Filesystem, red de BrowserStack, driver, índice del framework y todo el dominio de generación y validación.</a:t>
            </a:r>
            <a:endParaRPr lang="en-US" sz="1250" dirty="0"/>
          </a:p>
        </p:txBody>
      </p:sp>
      <p:sp>
        <p:nvSpPr>
          <p:cNvPr id="19" name="Shape 17"/>
          <p:cNvSpPr/>
          <p:nvPr/>
        </p:nvSpPr>
        <p:spPr>
          <a:xfrm>
            <a:off x="566928" y="4800600"/>
            <a:ext cx="11064240" cy="1325880"/>
          </a:xfrm>
          <a:prstGeom prst="roundRect">
            <a:avLst>
              <a:gd name="adj" fmla="val 6207"/>
            </a:avLst>
          </a:prstGeom>
          <a:solidFill>
            <a:srgbClr val="1B2430"/>
          </a:solidFill>
          <a:ln w="12700">
            <a:solidFill>
              <a:srgbClr val="1B2430"/>
            </a:solidFill>
            <a:prstDash val="solid"/>
          </a:ln>
        </p:spPr>
      </p:sp>
      <p:sp>
        <p:nvSpPr>
          <p:cNvPr id="20" name="Text 18"/>
          <p:cNvSpPr txBox="1"/>
          <p:nvPr/>
        </p:nvSpPr>
        <p:spPr>
          <a:xfrm>
            <a:off x="886968" y="4983480"/>
            <a:ext cx="5486400" cy="320040"/>
          </a:xfrm>
          <a:prstGeom prst="rect">
            <a:avLst/>
          </a:prstGeom>
          <a:noFill/>
          <a:ln/>
        </p:spPr>
        <p:txBody>
          <a:bodyPr wrap="square" lIns="0" tIns="0" rIns="0" bIns="0" rtlCol="0" anchor="ctr"/>
          <a:lstStyle/>
          <a:p>
            <a:pPr indent="0" marL="0">
              <a:buNone/>
            </a:pPr>
            <a:r>
              <a:rPr lang="en-US" sz="1500" b="1" dirty="0">
                <a:solidFill>
                  <a:srgbClr val="00A896"/>
                </a:solidFill>
                <a:latin typeface="Calibri" pitchFamily="34" charset="0"/>
                <a:ea typeface="Calibri" pitchFamily="34" charset="-122"/>
                <a:cs typeface="Calibri" pitchFamily="34" charset="-120"/>
              </a:rPr>
              <a:t>La frontera está entre preload y main</a:t>
            </a:r>
            <a:endParaRPr lang="en-US" sz="1500" dirty="0"/>
          </a:p>
        </p:txBody>
      </p:sp>
      <p:sp>
        <p:nvSpPr>
          <p:cNvPr id="21" name="Text 19"/>
          <p:cNvSpPr txBox="1"/>
          <p:nvPr/>
        </p:nvSpPr>
        <p:spPr>
          <a:xfrm>
            <a:off x="886968" y="5367528"/>
            <a:ext cx="10424160" cy="685800"/>
          </a:xfrm>
          <a:prstGeom prst="rect">
            <a:avLst/>
          </a:prstGeom>
          <a:noFill/>
          <a:ln/>
        </p:spPr>
        <p:txBody>
          <a:bodyPr wrap="square" lIns="0" tIns="0" rIns="0" bIns="0" rtlCol="0" anchor="ctr"/>
          <a:lstStyle/>
          <a:p>
            <a:pPr indent="0" marL="0">
              <a:lnSpc>
                <a:spcPts val="1700"/>
              </a:lnSpc>
              <a:buNone/>
            </a:pPr>
            <a:r>
              <a:rPr lang="en-US" sz="1300" dirty="0">
                <a:solidFill>
                  <a:srgbClr val="E6EAEF"/>
                </a:solidFill>
                <a:latin typeface="Calibri" pitchFamily="34" charset="0"/>
                <a:ea typeface="Calibri" pitchFamily="34" charset="-122"/>
                <a:cs typeface="Calibri" pitchFamily="34" charset="-120"/>
              </a:rPr>
              <a:t>Todo payload se valida en el proceso principal: TypeScript en el renderer no es una frontera de seguridad. La ventana conserva nodeIntegration en false y contextIsolation en true, y el Inspector embebido nunca entrega WebDriver, capturas ni credenciales al renderer.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EL CORAZÓN DEL SISTEMA</a:t>
            </a:r>
            <a:endParaRPr lang="en-US" sz="1100" dirty="0"/>
          </a:p>
        </p:txBody>
      </p:sp>
      <p:sp>
        <p:nvSpPr>
          <p:cNvPr id="3" name="Text 1"/>
          <p:cNvSpPr txBox="1"/>
          <p:nvPr/>
        </p:nvSpPr>
        <p:spPr>
          <a:xfrm>
            <a:off x="566928" y="658368"/>
            <a:ext cx="11064240" cy="86868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Casi todo se decide antes de invocar a un modelo</a:t>
            </a:r>
            <a:endParaRPr lang="en-US" sz="3000" dirty="0"/>
          </a:p>
        </p:txBody>
      </p:sp>
      <p:sp>
        <p:nvSpPr>
          <p:cNvPr id="4" name="Shape 2"/>
          <p:cNvSpPr/>
          <p:nvPr/>
        </p:nvSpPr>
        <p:spPr>
          <a:xfrm>
            <a:off x="566928" y="1783080"/>
            <a:ext cx="5394960" cy="1874520"/>
          </a:xfrm>
          <a:prstGeom prst="roundRect">
            <a:avLst>
              <a:gd name="adj" fmla="val 4390"/>
            </a:avLst>
          </a:prstGeom>
          <a:solidFill>
            <a:srgbClr val="F1F3F5"/>
          </a:solidFill>
          <a:ln w="12700">
            <a:solidFill>
              <a:srgbClr val="F1F3F5"/>
            </a:solidFill>
            <a:prstDash val="solid"/>
          </a:ln>
        </p:spPr>
      </p:sp>
      <p:sp>
        <p:nvSpPr>
          <p:cNvPr id="5" name="Shape 3"/>
          <p:cNvSpPr/>
          <p:nvPr/>
        </p:nvSpPr>
        <p:spPr>
          <a:xfrm>
            <a:off x="841248" y="2039112"/>
            <a:ext cx="438912" cy="438912"/>
          </a:xfrm>
          <a:prstGeom prst="ellipse">
            <a:avLst/>
          </a:prstGeom>
          <a:solidFill>
            <a:srgbClr val="00A896"/>
          </a:solidFill>
          <a:ln w="12700">
            <a:solidFill>
              <a:srgbClr val="00A896"/>
            </a:solidFill>
            <a:prstDash val="solid"/>
          </a:ln>
        </p:spPr>
      </p:sp>
      <p:sp>
        <p:nvSpPr>
          <p:cNvPr id="6" name="Text 4"/>
          <p:cNvSpPr txBox="1"/>
          <p:nvPr/>
        </p:nvSpPr>
        <p:spPr>
          <a:xfrm>
            <a:off x="841248" y="2039112"/>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7" name="Text 5"/>
          <p:cNvSpPr txBox="1"/>
          <p:nvPr/>
        </p:nvSpPr>
        <p:spPr>
          <a:xfrm>
            <a:off x="1435608" y="2039112"/>
            <a:ext cx="4297680" cy="438912"/>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El resolver decide y fija las rutas</a:t>
            </a:r>
            <a:endParaRPr lang="en-US" sz="1500" dirty="0"/>
          </a:p>
        </p:txBody>
      </p:sp>
      <p:sp>
        <p:nvSpPr>
          <p:cNvPr id="8" name="Text 6"/>
          <p:cNvSpPr txBox="1"/>
          <p:nvPr/>
        </p:nvSpPr>
        <p:spPr>
          <a:xfrm>
            <a:off x="841248" y="2606040"/>
            <a:ext cx="4846320" cy="914400"/>
          </a:xfrm>
          <a:prstGeom prst="rect">
            <a:avLst/>
          </a:prstGeom>
          <a:noFill/>
          <a:ln/>
        </p:spPr>
        <p:txBody>
          <a:bodyPr wrap="square" lIns="0" tIns="0" rIns="0" bIns="0" rtlCol="0" anchor="t"/>
          <a:lstStyle/>
          <a:p>
            <a:pPr indent="0" marL="0">
              <a:lnSpc>
                <a:spcPts val="1600"/>
              </a:lnSpc>
              <a:buNone/>
            </a:pPr>
            <a:r>
              <a:rPr lang="en-US" sz="1250" dirty="0">
                <a:solidFill>
                  <a:srgbClr val="6B7683"/>
                </a:solidFill>
                <a:latin typeface="Calibri" pitchFamily="34" charset="0"/>
                <a:ea typeface="Calibri" pitchFamily="34" charset="-122"/>
                <a:cs typeface="Calibri" pitchFamily="34" charset="-120"/>
              </a:rPr>
              <a:t>reuse, create o update por capa, y las cuatro rutas del caso. Puede crear Feature y Steps y planificar Screen y Locators como update.</a:t>
            </a:r>
            <a:endParaRPr lang="en-US" sz="1250" dirty="0"/>
          </a:p>
        </p:txBody>
      </p:sp>
      <p:sp>
        <p:nvSpPr>
          <p:cNvPr id="9" name="Shape 7"/>
          <p:cNvSpPr/>
          <p:nvPr/>
        </p:nvSpPr>
        <p:spPr>
          <a:xfrm>
            <a:off x="6190488" y="1783080"/>
            <a:ext cx="5394960" cy="1874520"/>
          </a:xfrm>
          <a:prstGeom prst="roundRect">
            <a:avLst>
              <a:gd name="adj" fmla="val 4390"/>
            </a:avLst>
          </a:prstGeom>
          <a:solidFill>
            <a:srgbClr val="F1F3F5"/>
          </a:solidFill>
          <a:ln w="12700">
            <a:solidFill>
              <a:srgbClr val="F1F3F5"/>
            </a:solidFill>
            <a:prstDash val="solid"/>
          </a:ln>
        </p:spPr>
      </p:sp>
      <p:sp>
        <p:nvSpPr>
          <p:cNvPr id="10" name="Shape 8"/>
          <p:cNvSpPr/>
          <p:nvPr/>
        </p:nvSpPr>
        <p:spPr>
          <a:xfrm>
            <a:off x="6464808" y="2039112"/>
            <a:ext cx="438912" cy="438912"/>
          </a:xfrm>
          <a:prstGeom prst="ellipse">
            <a:avLst/>
          </a:prstGeom>
          <a:solidFill>
            <a:srgbClr val="F2A65A"/>
          </a:solidFill>
          <a:ln w="12700">
            <a:solidFill>
              <a:srgbClr val="F2A65A"/>
            </a:solidFill>
            <a:prstDash val="solid"/>
          </a:ln>
        </p:spPr>
      </p:sp>
      <p:sp>
        <p:nvSpPr>
          <p:cNvPr id="11" name="Text 9"/>
          <p:cNvSpPr txBox="1"/>
          <p:nvPr/>
        </p:nvSpPr>
        <p:spPr>
          <a:xfrm>
            <a:off x="6464808" y="2039112"/>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2" name="Text 10"/>
          <p:cNvSpPr txBox="1"/>
          <p:nvPr/>
        </p:nvSpPr>
        <p:spPr>
          <a:xfrm>
            <a:off x="7059168" y="2039112"/>
            <a:ext cx="4297680" cy="438912"/>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Un solo plan efectivo</a:t>
            </a:r>
            <a:endParaRPr lang="en-US" sz="1500" dirty="0"/>
          </a:p>
        </p:txBody>
      </p:sp>
      <p:sp>
        <p:nvSpPr>
          <p:cNvPr id="13" name="Text 11"/>
          <p:cNvSpPr txBox="1"/>
          <p:nvPr/>
        </p:nvSpPr>
        <p:spPr>
          <a:xfrm>
            <a:off x="6464808" y="2606040"/>
            <a:ext cx="4846320" cy="914400"/>
          </a:xfrm>
          <a:prstGeom prst="rect">
            <a:avLst/>
          </a:prstGeom>
          <a:noFill/>
          <a:ln/>
        </p:spPr>
        <p:txBody>
          <a:bodyPr wrap="square" lIns="0" tIns="0" rIns="0" bIns="0" rtlCol="0" anchor="t"/>
          <a:lstStyle/>
          <a:p>
            <a:pPr indent="0" marL="0">
              <a:lnSpc>
                <a:spcPts val="1600"/>
              </a:lnSpc>
              <a:buNone/>
            </a:pPr>
            <a:r>
              <a:rPr lang="en-US" sz="1250" dirty="0">
                <a:solidFill>
                  <a:srgbClr val="6B7683"/>
                </a:solidFill>
                <a:latin typeface="Calibri" pitchFamily="34" charset="0"/>
                <a:ea typeface="Calibri" pitchFamily="34" charset="-122"/>
                <a:cs typeface="Calibri" pitchFamily="34" charset="-120"/>
              </a:rPr>
              <a:t>Una decisión reuse elige {file, module, name} de candidatos autorizados. Generador y validador leen ese mismo plan: una sola fuente de verdad.</a:t>
            </a:r>
            <a:endParaRPr lang="en-US" sz="1250" dirty="0"/>
          </a:p>
        </p:txBody>
      </p:sp>
      <p:sp>
        <p:nvSpPr>
          <p:cNvPr id="14" name="Shape 12"/>
          <p:cNvSpPr/>
          <p:nvPr/>
        </p:nvSpPr>
        <p:spPr>
          <a:xfrm>
            <a:off x="566928" y="3840480"/>
            <a:ext cx="5394960" cy="1874520"/>
          </a:xfrm>
          <a:prstGeom prst="roundRect">
            <a:avLst>
              <a:gd name="adj" fmla="val 4390"/>
            </a:avLst>
          </a:prstGeom>
          <a:solidFill>
            <a:srgbClr val="F1F3F5"/>
          </a:solidFill>
          <a:ln w="12700">
            <a:solidFill>
              <a:srgbClr val="F1F3F5"/>
            </a:solidFill>
            <a:prstDash val="solid"/>
          </a:ln>
        </p:spPr>
      </p:sp>
      <p:sp>
        <p:nvSpPr>
          <p:cNvPr id="15" name="Shape 13"/>
          <p:cNvSpPr/>
          <p:nvPr/>
        </p:nvSpPr>
        <p:spPr>
          <a:xfrm>
            <a:off x="841248" y="4096512"/>
            <a:ext cx="438912" cy="438912"/>
          </a:xfrm>
          <a:prstGeom prst="ellipse">
            <a:avLst/>
          </a:prstGeom>
          <a:solidFill>
            <a:srgbClr val="00A896"/>
          </a:solidFill>
          <a:ln w="12700">
            <a:solidFill>
              <a:srgbClr val="00A896"/>
            </a:solidFill>
            <a:prstDash val="solid"/>
          </a:ln>
        </p:spPr>
      </p:sp>
      <p:sp>
        <p:nvSpPr>
          <p:cNvPr id="16" name="Text 14"/>
          <p:cNvSpPr txBox="1"/>
          <p:nvPr/>
        </p:nvSpPr>
        <p:spPr>
          <a:xfrm>
            <a:off x="841248" y="4096512"/>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7" name="Text 15"/>
          <p:cNvSpPr txBox="1"/>
          <p:nvPr/>
        </p:nvSpPr>
        <p:spPr>
          <a:xfrm>
            <a:off x="1435608" y="4096512"/>
            <a:ext cx="4297680" cy="438912"/>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Hints y gaps, no texto libre</a:t>
            </a:r>
            <a:endParaRPr lang="en-US" sz="1500" dirty="0"/>
          </a:p>
        </p:txBody>
      </p:sp>
      <p:sp>
        <p:nvSpPr>
          <p:cNvPr id="18" name="Text 16"/>
          <p:cNvSpPr txBox="1"/>
          <p:nvPr/>
        </p:nvSpPr>
        <p:spPr>
          <a:xfrm>
            <a:off x="841248" y="4663440"/>
            <a:ext cx="4846320" cy="914400"/>
          </a:xfrm>
          <a:prstGeom prst="rect">
            <a:avLst/>
          </a:prstGeom>
          <a:noFill/>
          <a:ln/>
        </p:spPr>
        <p:txBody>
          <a:bodyPr wrap="square" lIns="0" tIns="0" rIns="0" bIns="0" rtlCol="0" anchor="t"/>
          <a:lstStyle/>
          <a:p>
            <a:pPr indent="0" marL="0">
              <a:lnSpc>
                <a:spcPts val="1600"/>
              </a:lnSpc>
              <a:buNone/>
            </a:pPr>
            <a:r>
              <a:rPr lang="en-US" sz="1250" dirty="0">
                <a:solidFill>
                  <a:srgbClr val="6B7683"/>
                </a:solidFill>
                <a:latin typeface="Calibri" pitchFamily="34" charset="0"/>
                <a:ea typeface="Calibri" pitchFamily="34" charset="-122"/>
                <a:cs typeface="Calibri" pitchFamily="34" charset="-120"/>
              </a:rPr>
              <a:t>Lo que ya tiene evidencia sale como hint; lo que falta se normaliza como gap. La confianza no se estima: viene del índice o del resolver.</a:t>
            </a:r>
            <a:endParaRPr lang="en-US" sz="1250" dirty="0"/>
          </a:p>
        </p:txBody>
      </p:sp>
      <p:sp>
        <p:nvSpPr>
          <p:cNvPr id="19" name="Shape 17"/>
          <p:cNvSpPr/>
          <p:nvPr/>
        </p:nvSpPr>
        <p:spPr>
          <a:xfrm>
            <a:off x="6190488" y="3840480"/>
            <a:ext cx="5394960" cy="1874520"/>
          </a:xfrm>
          <a:prstGeom prst="roundRect">
            <a:avLst>
              <a:gd name="adj" fmla="val 4390"/>
            </a:avLst>
          </a:prstGeom>
          <a:solidFill>
            <a:srgbClr val="F1F3F5"/>
          </a:solidFill>
          <a:ln w="12700">
            <a:solidFill>
              <a:srgbClr val="F1F3F5"/>
            </a:solidFill>
            <a:prstDash val="solid"/>
          </a:ln>
        </p:spPr>
      </p:sp>
      <p:sp>
        <p:nvSpPr>
          <p:cNvPr id="20" name="Shape 18"/>
          <p:cNvSpPr/>
          <p:nvPr/>
        </p:nvSpPr>
        <p:spPr>
          <a:xfrm>
            <a:off x="6464808" y="4096512"/>
            <a:ext cx="438912" cy="438912"/>
          </a:xfrm>
          <a:prstGeom prst="ellipse">
            <a:avLst/>
          </a:prstGeom>
          <a:solidFill>
            <a:srgbClr val="F2A65A"/>
          </a:solidFill>
          <a:ln w="12700">
            <a:solidFill>
              <a:srgbClr val="F2A65A"/>
            </a:solidFill>
            <a:prstDash val="solid"/>
          </a:ln>
        </p:spPr>
      </p:sp>
      <p:sp>
        <p:nvSpPr>
          <p:cNvPr id="21" name="Text 19"/>
          <p:cNvSpPr txBox="1"/>
          <p:nvPr/>
        </p:nvSpPr>
        <p:spPr>
          <a:xfrm>
            <a:off x="6464808" y="4096512"/>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2" name="Text 20"/>
          <p:cNvSpPr txBox="1"/>
          <p:nvPr/>
        </p:nvSpPr>
        <p:spPr>
          <a:xfrm>
            <a:off x="7059168" y="4096512"/>
            <a:ext cx="4297680" cy="438912"/>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La IA es opt-in y acotada</a:t>
            </a:r>
            <a:endParaRPr lang="en-US" sz="1500" dirty="0"/>
          </a:p>
        </p:txBody>
      </p:sp>
      <p:sp>
        <p:nvSpPr>
          <p:cNvPr id="23" name="Text 21"/>
          <p:cNvSpPr txBox="1"/>
          <p:nvPr/>
        </p:nvSpPr>
        <p:spPr>
          <a:xfrm>
            <a:off x="6464808" y="4663440"/>
            <a:ext cx="4846320" cy="914400"/>
          </a:xfrm>
          <a:prstGeom prst="rect">
            <a:avLst/>
          </a:prstGeom>
          <a:noFill/>
          <a:ln/>
        </p:spPr>
        <p:txBody>
          <a:bodyPr wrap="square" lIns="0" tIns="0" rIns="0" bIns="0" rtlCol="0" anchor="t"/>
          <a:lstStyle/>
          <a:p>
            <a:pPr indent="0" marL="0">
              <a:lnSpc>
                <a:spcPts val="1600"/>
              </a:lnSpc>
              <a:buNone/>
            </a:pPr>
            <a:r>
              <a:rPr lang="en-US" sz="1250" dirty="0">
                <a:solidFill>
                  <a:srgbClr val="6B7683"/>
                </a:solidFill>
                <a:latin typeface="Calibri" pitchFamily="34" charset="0"/>
                <a:ea typeface="Calibri" pitchFamily="34" charset="-122"/>
                <a:cs typeface="Calibri" pitchFamily="34" charset="-120"/>
              </a:rPr>
              <a:t>Sin gap abierto no hay consulta. Con gap abierto solo se aceptan las consultas de su allowlist, con presupuesto y sin repetir.</a:t>
            </a:r>
            <a:endParaRPr lang="en-US" sz="1250" dirty="0"/>
          </a:p>
        </p:txBody>
      </p:sp>
      <p:sp>
        <p:nvSpPr>
          <p:cNvPr id="24" name="Text 22"/>
          <p:cNvSpPr txBox="1"/>
          <p:nvPr/>
        </p:nvSpPr>
        <p:spPr>
          <a:xfrm>
            <a:off x="566928" y="5943600"/>
            <a:ext cx="11064240" cy="365760"/>
          </a:xfrm>
          <a:prstGeom prst="rect">
            <a:avLst/>
          </a:prstGeom>
          <a:noFill/>
          <a:ln/>
        </p:spPr>
        <p:txBody>
          <a:bodyPr wrap="square" lIns="0" tIns="0" rIns="0" bIns="0" rtlCol="0" anchor="ctr"/>
          <a:lstStyle/>
          <a:p>
            <a:pPr indent="0" marL="0">
              <a:buNone/>
            </a:pPr>
            <a:r>
              <a:rPr lang="en-US" sz="1300" i="1" dirty="0">
                <a:solidFill>
                  <a:srgbClr val="2A3646"/>
                </a:solidFill>
                <a:latin typeface="Calibri" pitchFamily="34" charset="0"/>
                <a:ea typeface="Calibri" pitchFamily="34" charset="-122"/>
                <a:cs typeface="Calibri" pitchFamily="34" charset="-120"/>
              </a:rPr>
              <a:t>Consecuencia práctica: si el caso ya existe en el framework o en la memoria, no se abre ninguna sesión de agente.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EL PIPELINE</a:t>
            </a:r>
            <a:endParaRPr lang="en-US" sz="1100" dirty="0"/>
          </a:p>
        </p:txBody>
      </p:sp>
      <p:sp>
        <p:nvSpPr>
          <p:cNvPr id="3" name="Text 1"/>
          <p:cNvSpPr txBox="1"/>
          <p:nvPr/>
        </p:nvSpPr>
        <p:spPr>
          <a:xfrm>
            <a:off x="566928" y="658368"/>
            <a:ext cx="11064240" cy="86868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Cuatro roles con memoria aislada y un dueño explícito</a:t>
            </a:r>
            <a:endParaRPr lang="en-US" sz="3000" dirty="0"/>
          </a:p>
        </p:txBody>
      </p:sp>
      <p:sp>
        <p:nvSpPr>
          <p:cNvPr id="4" name="Shape 2"/>
          <p:cNvSpPr/>
          <p:nvPr/>
        </p:nvSpPr>
        <p:spPr>
          <a:xfrm>
            <a:off x="566928" y="1874520"/>
            <a:ext cx="2615184" cy="3063240"/>
          </a:xfrm>
          <a:prstGeom prst="roundRect">
            <a:avLst>
              <a:gd name="adj" fmla="val 3147"/>
            </a:avLst>
          </a:prstGeom>
          <a:solidFill>
            <a:srgbClr val="F1F3F5"/>
          </a:solidFill>
          <a:ln w="12700">
            <a:solidFill>
              <a:srgbClr val="F1F3F5"/>
            </a:solidFill>
            <a:prstDash val="solid"/>
          </a:ln>
        </p:spPr>
      </p:sp>
      <p:sp>
        <p:nvSpPr>
          <p:cNvPr id="5" name="Shape 3"/>
          <p:cNvSpPr/>
          <p:nvPr/>
        </p:nvSpPr>
        <p:spPr>
          <a:xfrm>
            <a:off x="822960" y="2103120"/>
            <a:ext cx="475488" cy="475488"/>
          </a:xfrm>
          <a:prstGeom prst="ellipse">
            <a:avLst/>
          </a:prstGeom>
          <a:solidFill>
            <a:srgbClr val="F2A65A"/>
          </a:solidFill>
          <a:ln w="12700">
            <a:solidFill>
              <a:srgbClr val="F2A65A"/>
            </a:solidFill>
            <a:prstDash val="solid"/>
          </a:ln>
        </p:spPr>
      </p:sp>
      <p:sp>
        <p:nvSpPr>
          <p:cNvPr id="6" name="Text 4"/>
          <p:cNvSpPr txBox="1"/>
          <p:nvPr/>
        </p:nvSpPr>
        <p:spPr>
          <a:xfrm>
            <a:off x="822960" y="210312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7" name="Text 5"/>
          <p:cNvSpPr txBox="1"/>
          <p:nvPr/>
        </p:nvSpPr>
        <p:spPr>
          <a:xfrm>
            <a:off x="1435608" y="2103120"/>
            <a:ext cx="1645920" cy="475488"/>
          </a:xfrm>
          <a:prstGeom prst="rect">
            <a:avLst/>
          </a:prstGeom>
          <a:noFill/>
          <a:ln/>
        </p:spPr>
        <p:txBody>
          <a:bodyPr wrap="square" lIns="0" tIns="0" rIns="0" bIns="0" rtlCol="0" anchor="ctr"/>
          <a:lstStyle/>
          <a:p>
            <a:pPr indent="0" marL="0">
              <a:buNone/>
            </a:pPr>
            <a:r>
              <a:rPr lang="en-US" sz="2000" b="1" dirty="0">
                <a:solidFill>
                  <a:srgbClr val="1B2430"/>
                </a:solidFill>
                <a:latin typeface="Cambria" pitchFamily="34" charset="0"/>
                <a:ea typeface="Cambria" pitchFamily="34" charset="-122"/>
                <a:cs typeface="Cambria" pitchFamily="34" charset="-120"/>
              </a:rPr>
              <a:t>Derek</a:t>
            </a:r>
            <a:endParaRPr lang="en-US" sz="2000" dirty="0"/>
          </a:p>
        </p:txBody>
      </p:sp>
      <p:sp>
        <p:nvSpPr>
          <p:cNvPr id="8" name="Text 6"/>
          <p:cNvSpPr txBox="1"/>
          <p:nvPr/>
        </p:nvSpPr>
        <p:spPr>
          <a:xfrm>
            <a:off x="822960" y="2697480"/>
            <a:ext cx="2194560" cy="274320"/>
          </a:xfrm>
          <a:prstGeom prst="rect">
            <a:avLst/>
          </a:prstGeom>
          <a:noFill/>
          <a:ln/>
        </p:spPr>
        <p:txBody>
          <a:bodyPr wrap="square" lIns="0" tIns="0" rIns="0" bIns="0" rtlCol="0" anchor="ctr"/>
          <a:lstStyle/>
          <a:p>
            <a:pPr indent="0" marL="0">
              <a:buNone/>
            </a:pPr>
            <a:r>
              <a:rPr lang="en-US" sz="1100" b="1" spc="100" kern="0" dirty="0">
                <a:solidFill>
                  <a:srgbClr val="F2A65A"/>
                </a:solidFill>
                <a:latin typeface="Calibri" pitchFamily="34" charset="0"/>
                <a:ea typeface="Calibri" pitchFamily="34" charset="-122"/>
                <a:cs typeface="Calibri" pitchFamily="34" charset="-120"/>
              </a:rPr>
              <a:t>owner</a:t>
            </a:r>
            <a:endParaRPr lang="en-US" sz="1100" dirty="0"/>
          </a:p>
        </p:txBody>
      </p:sp>
      <p:sp>
        <p:nvSpPr>
          <p:cNvPr id="9" name="Text 7"/>
          <p:cNvSpPr txBox="1"/>
          <p:nvPr/>
        </p:nvSpPr>
        <p:spPr>
          <a:xfrm>
            <a:off x="822960" y="3063240"/>
            <a:ext cx="2103120" cy="1737360"/>
          </a:xfrm>
          <a:prstGeom prst="rect">
            <a:avLst/>
          </a:prstGeom>
          <a:noFill/>
          <a:ln/>
        </p:spPr>
        <p:txBody>
          <a:bodyPr wrap="square" lIns="0" tIns="0" rIns="0" bIns="0" rtlCol="0" anchor="t"/>
          <a:lstStyle/>
          <a:p>
            <a:pPr indent="0" marL="0">
              <a:lnSpc>
                <a:spcPts val="1600"/>
              </a:lnSpc>
              <a:buNone/>
            </a:pPr>
            <a:r>
              <a:rPr lang="en-US" sz="1250" dirty="0">
                <a:solidFill>
                  <a:srgbClr val="6B7683"/>
                </a:solidFill>
                <a:latin typeface="Calibri" pitchFamily="34" charset="0"/>
                <a:ea typeface="Calibri" pitchFamily="34" charset="-122"/>
                <a:cs typeface="Calibri" pitchFamily="34" charset="-120"/>
              </a:rPr>
              <a:t>Conserva el orden y los handoffs. Corrige lo mecánico antes de juzgar, firma los gaps con decisión fija y dirige el feedback.</a:t>
            </a:r>
            <a:endParaRPr lang="en-US" sz="1250" dirty="0"/>
          </a:p>
        </p:txBody>
      </p:sp>
      <p:sp>
        <p:nvSpPr>
          <p:cNvPr id="10" name="Shape 8"/>
          <p:cNvSpPr/>
          <p:nvPr/>
        </p:nvSpPr>
        <p:spPr>
          <a:xfrm>
            <a:off x="3364992" y="1874520"/>
            <a:ext cx="2615184" cy="3063240"/>
          </a:xfrm>
          <a:prstGeom prst="roundRect">
            <a:avLst>
              <a:gd name="adj" fmla="val 3147"/>
            </a:avLst>
          </a:prstGeom>
          <a:solidFill>
            <a:srgbClr val="F1F3F5"/>
          </a:solidFill>
          <a:ln w="12700">
            <a:solidFill>
              <a:srgbClr val="F1F3F5"/>
            </a:solidFill>
            <a:prstDash val="solid"/>
          </a:ln>
        </p:spPr>
      </p:sp>
      <p:sp>
        <p:nvSpPr>
          <p:cNvPr id="11" name="Shape 9"/>
          <p:cNvSpPr/>
          <p:nvPr/>
        </p:nvSpPr>
        <p:spPr>
          <a:xfrm>
            <a:off x="3621024" y="2103120"/>
            <a:ext cx="475488" cy="475488"/>
          </a:xfrm>
          <a:prstGeom prst="ellipse">
            <a:avLst/>
          </a:prstGeom>
          <a:solidFill>
            <a:srgbClr val="00A896"/>
          </a:solidFill>
          <a:ln w="12700">
            <a:solidFill>
              <a:srgbClr val="00A896"/>
            </a:solidFill>
            <a:prstDash val="solid"/>
          </a:ln>
        </p:spPr>
      </p:sp>
      <p:sp>
        <p:nvSpPr>
          <p:cNvPr id="12" name="Text 10"/>
          <p:cNvSpPr txBox="1"/>
          <p:nvPr/>
        </p:nvSpPr>
        <p:spPr>
          <a:xfrm>
            <a:off x="3621024" y="210312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a:t>
            </a:r>
            <a:endParaRPr lang="en-US" sz="1500" dirty="0"/>
          </a:p>
        </p:txBody>
      </p:sp>
      <p:sp>
        <p:nvSpPr>
          <p:cNvPr id="13" name="Text 11"/>
          <p:cNvSpPr txBox="1"/>
          <p:nvPr/>
        </p:nvSpPr>
        <p:spPr>
          <a:xfrm>
            <a:off x="4233672" y="2103120"/>
            <a:ext cx="1645920" cy="475488"/>
          </a:xfrm>
          <a:prstGeom prst="rect">
            <a:avLst/>
          </a:prstGeom>
          <a:noFill/>
          <a:ln/>
        </p:spPr>
        <p:txBody>
          <a:bodyPr wrap="square" lIns="0" tIns="0" rIns="0" bIns="0" rtlCol="0" anchor="ctr"/>
          <a:lstStyle/>
          <a:p>
            <a:pPr indent="0" marL="0">
              <a:buNone/>
            </a:pPr>
            <a:r>
              <a:rPr lang="en-US" sz="2000" b="1" dirty="0">
                <a:solidFill>
                  <a:srgbClr val="1B2430"/>
                </a:solidFill>
                <a:latin typeface="Cambria" pitchFamily="34" charset="0"/>
                <a:ea typeface="Cambria" pitchFamily="34" charset="-122"/>
                <a:cs typeface="Cambria" pitchFamily="34" charset="-120"/>
              </a:rPr>
              <a:t>Lorem</a:t>
            </a:r>
            <a:endParaRPr lang="en-US" sz="2000" dirty="0"/>
          </a:p>
        </p:txBody>
      </p:sp>
      <p:sp>
        <p:nvSpPr>
          <p:cNvPr id="14" name="Text 12"/>
          <p:cNvSpPr txBox="1"/>
          <p:nvPr/>
        </p:nvSpPr>
        <p:spPr>
          <a:xfrm>
            <a:off x="3621024" y="2697480"/>
            <a:ext cx="2194560" cy="274320"/>
          </a:xfrm>
          <a:prstGeom prst="rect">
            <a:avLst/>
          </a:prstGeom>
          <a:noFill/>
          <a:ln/>
        </p:spPr>
        <p:txBody>
          <a:bodyPr wrap="square" lIns="0" tIns="0" rIns="0" bIns="0" rtlCol="0" anchor="ctr"/>
          <a:lstStyle/>
          <a:p>
            <a:pPr indent="0" marL="0">
              <a:buNone/>
            </a:pPr>
            <a:r>
              <a:rPr lang="en-US" sz="1100" b="1" spc="100" kern="0" dirty="0">
                <a:solidFill>
                  <a:srgbClr val="00A896"/>
                </a:solidFill>
                <a:latin typeface="Calibri" pitchFamily="34" charset="0"/>
                <a:ea typeface="Calibri" pitchFamily="34" charset="-122"/>
                <a:cs typeface="Calibri" pitchFamily="34" charset="-120"/>
              </a:rPr>
              <a:t>behavior-author</a:t>
            </a:r>
            <a:endParaRPr lang="en-US" sz="1100" dirty="0"/>
          </a:p>
        </p:txBody>
      </p:sp>
      <p:sp>
        <p:nvSpPr>
          <p:cNvPr id="15" name="Text 13"/>
          <p:cNvSpPr txBox="1"/>
          <p:nvPr/>
        </p:nvSpPr>
        <p:spPr>
          <a:xfrm>
            <a:off x="3621024" y="3063240"/>
            <a:ext cx="2103120" cy="1737360"/>
          </a:xfrm>
          <a:prstGeom prst="rect">
            <a:avLst/>
          </a:prstGeom>
          <a:noFill/>
          <a:ln/>
        </p:spPr>
        <p:txBody>
          <a:bodyPr wrap="square" lIns="0" tIns="0" rIns="0" bIns="0" rtlCol="0" anchor="t"/>
          <a:lstStyle/>
          <a:p>
            <a:pPr indent="0" marL="0">
              <a:lnSpc>
                <a:spcPts val="1600"/>
              </a:lnSpc>
              <a:buNone/>
            </a:pPr>
            <a:r>
              <a:rPr lang="en-US" sz="1250" dirty="0">
                <a:solidFill>
                  <a:srgbClr val="6B7683"/>
                </a:solidFill>
                <a:latin typeface="Calibri" pitchFamily="34" charset="0"/>
                <a:ea typeface="Calibri" pitchFamily="34" charset="-122"/>
                <a:cs typeface="Calibri" pitchFamily="34" charset="-120"/>
              </a:rPr>
              <a:t>Redacta el Feature y los Steps. Corre sin shell: la prohibición de explorar el framework deja de depender del prompt.</a:t>
            </a:r>
            <a:endParaRPr lang="en-US" sz="1250" dirty="0"/>
          </a:p>
        </p:txBody>
      </p:sp>
      <p:sp>
        <p:nvSpPr>
          <p:cNvPr id="16" name="Shape 14"/>
          <p:cNvSpPr/>
          <p:nvPr/>
        </p:nvSpPr>
        <p:spPr>
          <a:xfrm>
            <a:off x="6163056" y="1874520"/>
            <a:ext cx="2615184" cy="3063240"/>
          </a:xfrm>
          <a:prstGeom prst="roundRect">
            <a:avLst>
              <a:gd name="adj" fmla="val 3147"/>
            </a:avLst>
          </a:prstGeom>
          <a:solidFill>
            <a:srgbClr val="F1F3F5"/>
          </a:solidFill>
          <a:ln w="12700">
            <a:solidFill>
              <a:srgbClr val="F1F3F5"/>
            </a:solidFill>
            <a:prstDash val="solid"/>
          </a:ln>
        </p:spPr>
      </p:sp>
      <p:sp>
        <p:nvSpPr>
          <p:cNvPr id="17" name="Shape 15"/>
          <p:cNvSpPr/>
          <p:nvPr/>
        </p:nvSpPr>
        <p:spPr>
          <a:xfrm>
            <a:off x="6419088" y="2103120"/>
            <a:ext cx="475488" cy="475488"/>
          </a:xfrm>
          <a:prstGeom prst="ellipse">
            <a:avLst/>
          </a:prstGeom>
          <a:solidFill>
            <a:srgbClr val="00A896"/>
          </a:solidFill>
          <a:ln w="12700">
            <a:solidFill>
              <a:srgbClr val="00A896"/>
            </a:solidFill>
            <a:prstDash val="solid"/>
          </a:ln>
        </p:spPr>
      </p:sp>
      <p:sp>
        <p:nvSpPr>
          <p:cNvPr id="18" name="Text 16"/>
          <p:cNvSpPr txBox="1"/>
          <p:nvPr/>
        </p:nvSpPr>
        <p:spPr>
          <a:xfrm>
            <a:off x="6419088" y="210312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Z</a:t>
            </a:r>
            <a:endParaRPr lang="en-US" sz="1500" dirty="0"/>
          </a:p>
        </p:txBody>
      </p:sp>
      <p:sp>
        <p:nvSpPr>
          <p:cNvPr id="19" name="Text 17"/>
          <p:cNvSpPr txBox="1"/>
          <p:nvPr/>
        </p:nvSpPr>
        <p:spPr>
          <a:xfrm>
            <a:off x="7031736" y="2103120"/>
            <a:ext cx="1645920" cy="475488"/>
          </a:xfrm>
          <a:prstGeom prst="rect">
            <a:avLst/>
          </a:prstGeom>
          <a:noFill/>
          <a:ln/>
        </p:spPr>
        <p:txBody>
          <a:bodyPr wrap="square" lIns="0" tIns="0" rIns="0" bIns="0" rtlCol="0" anchor="ctr"/>
          <a:lstStyle/>
          <a:p>
            <a:pPr indent="0" marL="0">
              <a:buNone/>
            </a:pPr>
            <a:r>
              <a:rPr lang="en-US" sz="2000" b="1" dirty="0">
                <a:solidFill>
                  <a:srgbClr val="1B2430"/>
                </a:solidFill>
                <a:latin typeface="Cambria" pitchFamily="34" charset="0"/>
                <a:ea typeface="Cambria" pitchFamily="34" charset="-122"/>
                <a:cs typeface="Cambria" pitchFamily="34" charset="-120"/>
              </a:rPr>
              <a:t>Zorem</a:t>
            </a:r>
            <a:endParaRPr lang="en-US" sz="2000" dirty="0"/>
          </a:p>
        </p:txBody>
      </p:sp>
      <p:sp>
        <p:nvSpPr>
          <p:cNvPr id="20" name="Text 18"/>
          <p:cNvSpPr txBox="1"/>
          <p:nvPr/>
        </p:nvSpPr>
        <p:spPr>
          <a:xfrm>
            <a:off x="6419088" y="2697480"/>
            <a:ext cx="2194560" cy="274320"/>
          </a:xfrm>
          <a:prstGeom prst="rect">
            <a:avLst/>
          </a:prstGeom>
          <a:noFill/>
          <a:ln/>
        </p:spPr>
        <p:txBody>
          <a:bodyPr wrap="square" lIns="0" tIns="0" rIns="0" bIns="0" rtlCol="0" anchor="ctr"/>
          <a:lstStyle/>
          <a:p>
            <a:pPr indent="0" marL="0">
              <a:buNone/>
            </a:pPr>
            <a:r>
              <a:rPr lang="en-US" sz="1100" b="1" spc="100" kern="0" dirty="0">
                <a:solidFill>
                  <a:srgbClr val="00A896"/>
                </a:solidFill>
                <a:latin typeface="Calibri" pitchFamily="34" charset="0"/>
                <a:ea typeface="Calibri" pitchFamily="34" charset="-122"/>
                <a:cs typeface="Calibri" pitchFamily="34" charset="-120"/>
              </a:rPr>
              <a:t>interaction-author</a:t>
            </a:r>
            <a:endParaRPr lang="en-US" sz="1100" dirty="0"/>
          </a:p>
        </p:txBody>
      </p:sp>
      <p:sp>
        <p:nvSpPr>
          <p:cNvPr id="21" name="Text 19"/>
          <p:cNvSpPr txBox="1"/>
          <p:nvPr/>
        </p:nvSpPr>
        <p:spPr>
          <a:xfrm>
            <a:off x="6419088" y="3063240"/>
            <a:ext cx="2103120" cy="1737360"/>
          </a:xfrm>
          <a:prstGeom prst="rect">
            <a:avLst/>
          </a:prstGeom>
          <a:noFill/>
          <a:ln/>
        </p:spPr>
        <p:txBody>
          <a:bodyPr wrap="square" lIns="0" tIns="0" rIns="0" bIns="0" rtlCol="0" anchor="t"/>
          <a:lstStyle/>
          <a:p>
            <a:pPr indent="0" marL="0">
              <a:lnSpc>
                <a:spcPts val="1600"/>
              </a:lnSpc>
              <a:buNone/>
            </a:pPr>
            <a:r>
              <a:rPr lang="en-US" sz="1250" dirty="0">
                <a:solidFill>
                  <a:srgbClr val="6B7683"/>
                </a:solidFill>
                <a:latin typeface="Calibri" pitchFamily="34" charset="0"/>
                <a:ea typeface="Calibri" pitchFamily="34" charset="-122"/>
                <a:cs typeface="Calibri" pitchFamily="34" charset="-120"/>
              </a:rPr>
              <a:t>Escribe el Screen Object y los Locators. Es el único con shell acotada para validar lo que produce.</a:t>
            </a:r>
            <a:endParaRPr lang="en-US" sz="1250" dirty="0"/>
          </a:p>
        </p:txBody>
      </p:sp>
      <p:sp>
        <p:nvSpPr>
          <p:cNvPr id="22" name="Shape 20"/>
          <p:cNvSpPr/>
          <p:nvPr/>
        </p:nvSpPr>
        <p:spPr>
          <a:xfrm>
            <a:off x="8961120" y="1874520"/>
            <a:ext cx="2615184" cy="3063240"/>
          </a:xfrm>
          <a:prstGeom prst="roundRect">
            <a:avLst>
              <a:gd name="adj" fmla="val 3147"/>
            </a:avLst>
          </a:prstGeom>
          <a:solidFill>
            <a:srgbClr val="F1F3F5"/>
          </a:solidFill>
          <a:ln w="12700">
            <a:solidFill>
              <a:srgbClr val="F1F3F5"/>
            </a:solidFill>
            <a:prstDash val="solid"/>
          </a:ln>
        </p:spPr>
      </p:sp>
      <p:sp>
        <p:nvSpPr>
          <p:cNvPr id="23" name="Shape 21"/>
          <p:cNvSpPr/>
          <p:nvPr/>
        </p:nvSpPr>
        <p:spPr>
          <a:xfrm>
            <a:off x="9217152" y="2103120"/>
            <a:ext cx="475488" cy="475488"/>
          </a:xfrm>
          <a:prstGeom prst="ellipse">
            <a:avLst/>
          </a:prstGeom>
          <a:solidFill>
            <a:srgbClr val="6B7683"/>
          </a:solidFill>
          <a:ln w="12700">
            <a:solidFill>
              <a:srgbClr val="6B7683"/>
            </a:solidFill>
            <a:prstDash val="solid"/>
          </a:ln>
        </p:spPr>
      </p:sp>
      <p:sp>
        <p:nvSpPr>
          <p:cNvPr id="24" name="Text 22"/>
          <p:cNvSpPr txBox="1"/>
          <p:nvPr/>
        </p:nvSpPr>
        <p:spPr>
          <a:xfrm>
            <a:off x="9217152" y="210312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a:t>
            </a:r>
            <a:endParaRPr lang="en-US" sz="1500" dirty="0"/>
          </a:p>
        </p:txBody>
      </p:sp>
      <p:sp>
        <p:nvSpPr>
          <p:cNvPr id="25" name="Text 23"/>
          <p:cNvSpPr txBox="1"/>
          <p:nvPr/>
        </p:nvSpPr>
        <p:spPr>
          <a:xfrm>
            <a:off x="9829800" y="2103120"/>
            <a:ext cx="1645920" cy="475488"/>
          </a:xfrm>
          <a:prstGeom prst="rect">
            <a:avLst/>
          </a:prstGeom>
          <a:noFill/>
          <a:ln/>
        </p:spPr>
        <p:txBody>
          <a:bodyPr wrap="square" lIns="0" tIns="0" rIns="0" bIns="0" rtlCol="0" anchor="ctr"/>
          <a:lstStyle/>
          <a:p>
            <a:pPr indent="0" marL="0">
              <a:buNone/>
            </a:pPr>
            <a:r>
              <a:rPr lang="en-US" sz="2000" b="1" dirty="0">
                <a:solidFill>
                  <a:srgbClr val="1B2430"/>
                </a:solidFill>
                <a:latin typeface="Cambria" pitchFamily="34" charset="0"/>
                <a:ea typeface="Cambria" pitchFamily="34" charset="-122"/>
                <a:cs typeface="Cambria" pitchFamily="34" charset="-120"/>
              </a:rPr>
              <a:t>Sumrak</a:t>
            </a:r>
            <a:endParaRPr lang="en-US" sz="2000" dirty="0"/>
          </a:p>
        </p:txBody>
      </p:sp>
      <p:sp>
        <p:nvSpPr>
          <p:cNvPr id="26" name="Text 24"/>
          <p:cNvSpPr txBox="1"/>
          <p:nvPr/>
        </p:nvSpPr>
        <p:spPr>
          <a:xfrm>
            <a:off x="9217152" y="2697480"/>
            <a:ext cx="2194560" cy="274320"/>
          </a:xfrm>
          <a:prstGeom prst="rect">
            <a:avLst/>
          </a:prstGeom>
          <a:noFill/>
          <a:ln/>
        </p:spPr>
        <p:txBody>
          <a:bodyPr wrap="square" lIns="0" tIns="0" rIns="0" bIns="0" rtlCol="0" anchor="ctr"/>
          <a:lstStyle/>
          <a:p>
            <a:pPr indent="0" marL="0">
              <a:buNone/>
            </a:pPr>
            <a:r>
              <a:rPr lang="en-US" sz="1100" b="1" spc="100" kern="0" dirty="0">
                <a:solidFill>
                  <a:srgbClr val="6B7683"/>
                </a:solidFill>
                <a:latin typeface="Calibri" pitchFamily="34" charset="0"/>
                <a:ea typeface="Calibri" pitchFamily="34" charset="-122"/>
                <a:cs typeface="Calibri" pitchFamily="34" charset="-120"/>
              </a:rPr>
              <a:t>integration-reviewer</a:t>
            </a:r>
            <a:endParaRPr lang="en-US" sz="1100" dirty="0"/>
          </a:p>
        </p:txBody>
      </p:sp>
      <p:sp>
        <p:nvSpPr>
          <p:cNvPr id="27" name="Text 25"/>
          <p:cNvSpPr txBox="1"/>
          <p:nvPr/>
        </p:nvSpPr>
        <p:spPr>
          <a:xfrm>
            <a:off x="9217152" y="3063240"/>
            <a:ext cx="2103120" cy="1737360"/>
          </a:xfrm>
          <a:prstGeom prst="rect">
            <a:avLst/>
          </a:prstGeom>
          <a:noFill/>
          <a:ln/>
        </p:spPr>
        <p:txBody>
          <a:bodyPr wrap="square" lIns="0" tIns="0" rIns="0" bIns="0" rtlCol="0" anchor="t"/>
          <a:lstStyle/>
          <a:p>
            <a:pPr indent="0" marL="0">
              <a:lnSpc>
                <a:spcPts val="1600"/>
              </a:lnSpc>
              <a:buNone/>
            </a:pPr>
            <a:r>
              <a:rPr lang="en-US" sz="1250" dirty="0">
                <a:solidFill>
                  <a:srgbClr val="6B7683"/>
                </a:solidFill>
                <a:latin typeface="Calibri" pitchFamily="34" charset="0"/>
                <a:ea typeface="Calibri" pitchFamily="34" charset="-122"/>
                <a:cs typeface="Calibri" pitchFamily="34" charset="-120"/>
              </a:rPr>
              <a:t>Unifica las cuatro capas y aporta resoluciones y trazabilidad, nunca contenido: eso se impone byte por byte.</a:t>
            </a:r>
            <a:endParaRPr lang="en-US" sz="1250" dirty="0"/>
          </a:p>
        </p:txBody>
      </p:sp>
      <p:sp>
        <p:nvSpPr>
          <p:cNvPr id="28" name="Text 26"/>
          <p:cNvSpPr txBox="1"/>
          <p:nvPr/>
        </p:nvSpPr>
        <p:spPr>
          <a:xfrm>
            <a:off x="566928" y="5257800"/>
            <a:ext cx="11064240" cy="731520"/>
          </a:xfrm>
          <a:prstGeom prst="rect">
            <a:avLst/>
          </a:prstGeom>
          <a:noFill/>
          <a:ln/>
        </p:spPr>
        <p:txBody>
          <a:bodyPr wrap="square" lIns="0" tIns="0" rIns="0" bIns="0" rtlCol="0" anchor="ctr"/>
          <a:lstStyle/>
          <a:p>
            <a:pPr indent="0" marL="0">
              <a:lnSpc>
                <a:spcPts val="1800"/>
              </a:lnSpc>
              <a:buNone/>
            </a:pPr>
            <a:r>
              <a:rPr lang="en-US" sz="1350" dirty="0">
                <a:solidFill>
                  <a:srgbClr val="2A3646"/>
                </a:solidFill>
                <a:latin typeface="Calibri" pitchFamily="34" charset="0"/>
                <a:ea typeface="Calibri" pitchFamily="34" charset="-122"/>
                <a:cs typeface="Calibri" pitchFamily="34" charset="-120"/>
              </a:rPr>
              <a:t>Los tres delegados corren en modo headless, cada uno bajo su carpeta, y publican un handoff por ruta, tamaño y SHA-256. Sumrak rechaza cualquier artefacto que cambió después del handoff.</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CÓMO SE GANA TIEMPO</a:t>
            </a:r>
            <a:endParaRPr lang="en-US" sz="1100" dirty="0"/>
          </a:p>
        </p:txBody>
      </p:sp>
      <p:sp>
        <p:nvSpPr>
          <p:cNvPr id="3" name="Text 1"/>
          <p:cNvSpPr txBox="1"/>
          <p:nvPr/>
        </p:nvSpPr>
        <p:spPr>
          <a:xfrm>
            <a:off x="566928" y="658368"/>
            <a:ext cx="11064240" cy="86868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Lorem y Zorem trabajan a la vez, sobre un contrato firmado</a:t>
            </a:r>
            <a:endParaRPr lang="en-US" sz="3000" dirty="0"/>
          </a:p>
        </p:txBody>
      </p:sp>
      <p:sp>
        <p:nvSpPr>
          <p:cNvPr id="4" name="Text 2"/>
          <p:cNvSpPr txBox="1"/>
          <p:nvPr/>
        </p:nvSpPr>
        <p:spPr>
          <a:xfrm>
            <a:off x="566928" y="1874520"/>
            <a:ext cx="6675120" cy="3474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A3646"/>
                </a:solidFill>
                <a:latin typeface="Calibri" pitchFamily="34" charset="0"/>
                <a:ea typeface="Calibri" pitchFamily="34" charset="-122"/>
                <a:cs typeface="Calibri" pitchFamily="34" charset="-120"/>
              </a:rPr>
              <a:t>Antes de delegar, el recorder materializa las cuatro capas en memoria y guarda un borrador determinista: forma y trazabilidad inmediatas, sin ser todavía una respuesta aplicable</a:t>
            </a:r>
            <a:endParaRPr lang="en-US" sz="1400" dirty="0"/>
          </a:p>
          <a:p>
            <a:pPr marL="342900" indent="-342900">
              <a:spcAft>
                <a:spcPts val="800"/>
              </a:spcAft>
              <a:buSzPct val="100000"/>
              <a:buChar char="•"/>
            </a:pPr>
            <a:r>
              <a:rPr lang="en-US" sz="1400" dirty="0">
                <a:solidFill>
                  <a:srgbClr val="2A3646"/>
                </a:solidFill>
                <a:latin typeface="Calibri" pitchFamily="34" charset="0"/>
                <a:ea typeface="Calibri" pitchFamily="34" charset="-122"/>
                <a:cs typeface="Calibri" pitchFamily="34" charset="-120"/>
              </a:rPr>
              <a:t>Derek publica el actionTrace de ese borrador como contrato provisional, con handoff verificado, y Zorem implementa esa interfaz mientras Lorem redacta</a:t>
            </a:r>
            <a:endParaRPr lang="en-US" sz="1400" dirty="0"/>
          </a:p>
          <a:p>
            <a:pPr marL="342900" indent="-342900">
              <a:spcAft>
                <a:spcPts val="800"/>
              </a:spcAft>
              <a:buSzPct val="100000"/>
              <a:buChar char="•"/>
            </a:pPr>
            <a:r>
              <a:rPr lang="en-US" sz="1400" dirty="0">
                <a:solidFill>
                  <a:srgbClr val="2A3646"/>
                </a:solidFill>
                <a:latin typeface="Calibri" pitchFamily="34" charset="0"/>
                <a:ea typeface="Calibri" pitchFamily="34" charset="-122"/>
                <a:cs typeface="Calibri" pitchFamily="34" charset="-120"/>
              </a:rPr>
              <a:t>Al terminar ambos, si la huella screenMethod/locatorName o la API tipada difiere del contrato, Zorem se sincroniza con el resultado real</a:t>
            </a:r>
            <a:endParaRPr lang="en-US" sz="1400" dirty="0"/>
          </a:p>
          <a:p>
            <a:pPr marL="342900" indent="-342900">
              <a:spcAft>
                <a:spcPts val="800"/>
              </a:spcAft>
              <a:buSzPct val="100000"/>
              <a:buChar char="•"/>
            </a:pPr>
            <a:r>
              <a:rPr lang="en-US" sz="1400" dirty="0">
                <a:solidFill>
                  <a:srgbClr val="2A3646"/>
                </a:solidFill>
                <a:latin typeface="Calibri" pitchFamily="34" charset="0"/>
                <a:ea typeface="Calibri" pitchFamily="34" charset="-122"/>
                <a:cs typeface="Calibri" pitchFamily="34" charset="-120"/>
              </a:rPr>
              <a:t>Una corrección de Gherkin solo invalida a Zorem cuando cambia esa interfaz; lo demás se reutiliza</a:t>
            </a:r>
            <a:endParaRPr lang="en-US" sz="1400" dirty="0"/>
          </a:p>
        </p:txBody>
      </p:sp>
      <p:sp>
        <p:nvSpPr>
          <p:cNvPr id="5" name="Shape 3"/>
          <p:cNvSpPr/>
          <p:nvPr/>
        </p:nvSpPr>
        <p:spPr>
          <a:xfrm>
            <a:off x="7589520" y="1874520"/>
            <a:ext cx="4023360" cy="3474720"/>
          </a:xfrm>
          <a:prstGeom prst="roundRect">
            <a:avLst>
              <a:gd name="adj" fmla="val 2368"/>
            </a:avLst>
          </a:prstGeom>
          <a:solidFill>
            <a:srgbClr val="F1F3F5"/>
          </a:solidFill>
          <a:ln w="12700">
            <a:solidFill>
              <a:srgbClr val="F1F3F5"/>
            </a:solidFill>
            <a:prstDash val="solid"/>
          </a:ln>
        </p:spPr>
      </p:sp>
      <p:sp>
        <p:nvSpPr>
          <p:cNvPr id="6" name="Text 4"/>
          <p:cNvSpPr txBox="1"/>
          <p:nvPr/>
        </p:nvSpPr>
        <p:spPr>
          <a:xfrm>
            <a:off x="7882128" y="2148840"/>
            <a:ext cx="3474720" cy="36576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Caché por identidad de inputs</a:t>
            </a:r>
            <a:endParaRPr lang="en-US" sz="1500" dirty="0"/>
          </a:p>
        </p:txBody>
      </p:sp>
      <p:sp>
        <p:nvSpPr>
          <p:cNvPr id="7" name="Text 5"/>
          <p:cNvSpPr txBox="1"/>
          <p:nvPr/>
        </p:nvSpPr>
        <p:spPr>
          <a:xfrm>
            <a:off x="7882128" y="2651760"/>
            <a:ext cx="3474720" cy="256032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50" dirty="0">
                <a:solidFill>
                  <a:srgbClr val="6B7683"/>
                </a:solidFill>
                <a:latin typeface="Calibri" pitchFamily="34" charset="0"/>
                <a:ea typeface="Calibri" pitchFamily="34" charset="-122"/>
                <a:cs typeface="Calibri" pitchFamily="34" charset="-120"/>
              </a:rPr>
              <a:t>Indexado sin recordingId, planId ni fechas: un resultado verificado sirve a cualquier grabación con los mismos inputs</a:t>
            </a:r>
            <a:endParaRPr lang="en-US" sz="1250" dirty="0"/>
          </a:p>
          <a:p>
            <a:pPr marL="342900" indent="-342900">
              <a:lnSpc>
                <a:spcPts val="1600"/>
              </a:lnSpc>
              <a:spcAft>
                <a:spcPts val="900"/>
              </a:spcAft>
              <a:buSzPct val="100000"/>
              <a:buChar char="•"/>
            </a:pPr>
            <a:r>
              <a:rPr lang="en-US" sz="1250" dirty="0">
                <a:solidFill>
                  <a:srgbClr val="6B7683"/>
                </a:solidFill>
                <a:latin typeface="Calibri" pitchFamily="34" charset="0"/>
                <a:ea typeface="Calibri" pitchFamily="34" charset="-122"/>
                <a:cs typeface="Calibri" pitchFamily="34" charset="-120"/>
              </a:rPr>
              <a:t>Al restaurarlo se le ponen los ids del paquete actual y los handoffs se vuelven a verificar</a:t>
            </a:r>
            <a:endParaRPr lang="en-US" sz="1250" dirty="0"/>
          </a:p>
          <a:p>
            <a:pPr marL="342900" indent="-342900">
              <a:lnSpc>
                <a:spcPts val="1600"/>
              </a:lnSpc>
              <a:spcAft>
                <a:spcPts val="900"/>
              </a:spcAft>
              <a:buSzPct val="100000"/>
              <a:buChar char="•"/>
            </a:pPr>
            <a:r>
              <a:rPr lang="en-US" sz="1250" dirty="0">
                <a:solidFill>
                  <a:srgbClr val="6B7683"/>
                </a:solidFill>
                <a:latin typeface="Calibri" pitchFamily="34" charset="0"/>
                <a:ea typeface="Calibri" pitchFamily="34" charset="-122"/>
                <a:cs typeface="Calibri" pitchFamily="34" charset="-120"/>
              </a:rPr>
              <a:t>La respuesta completa solo se cachea después de superar el validador oficial</a:t>
            </a:r>
            <a:endParaRPr lang="en-US" sz="1250" dirty="0"/>
          </a:p>
        </p:txBody>
      </p:sp>
      <p:sp>
        <p:nvSpPr>
          <p:cNvPr id="8" name="Text 6"/>
          <p:cNvSpPr txBox="1"/>
          <p:nvPr/>
        </p:nvSpPr>
        <p:spPr>
          <a:xfrm>
            <a:off x="566928" y="5623560"/>
            <a:ext cx="11064240" cy="640080"/>
          </a:xfrm>
          <a:prstGeom prst="rect">
            <a:avLst/>
          </a:prstGeom>
          <a:noFill/>
          <a:ln/>
        </p:spPr>
        <p:txBody>
          <a:bodyPr wrap="square" lIns="0" tIns="0" rIns="0" bIns="0" rtlCol="0" anchor="ctr"/>
          <a:lstStyle/>
          <a:p>
            <a:pPr indent="0" marL="0">
              <a:lnSpc>
                <a:spcPts val="1700"/>
              </a:lnSpc>
              <a:buNone/>
            </a:pPr>
            <a:r>
              <a:rPr lang="en-US" sz="1300" i="1" dirty="0">
                <a:solidFill>
                  <a:srgbClr val="2A3646"/>
                </a:solidFill>
                <a:latin typeface="Calibri" pitchFamily="34" charset="0"/>
                <a:ea typeface="Calibri" pitchFamily="34" charset="-122"/>
                <a:cs typeface="Calibri" pitchFamily="34" charset="-120"/>
              </a:rPr>
              <a:t>Cada etapa reporta su presupuesto —duración, bytes de contexto, bytes de evidencia— y se corta al hang stop de una hora, en vez de morir a los 300 segundos con una respuesta casi lista.</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indent="0" marL="0">
              <a:buNone/>
            </a:pPr>
            <a:r>
              <a:rPr lang="en-US" sz="1100" b="1" spc="200" kern="0" dirty="0">
                <a:solidFill>
                  <a:srgbClr val="F2A65A"/>
                </a:solidFill>
                <a:latin typeface="Calibri" pitchFamily="34" charset="0"/>
                <a:ea typeface="Calibri" pitchFamily="34" charset="-122"/>
                <a:cs typeface="Calibri" pitchFamily="34" charset="-120"/>
              </a:rPr>
              <a:t>REUTILIZACIÓN</a:t>
            </a:r>
            <a:endParaRPr lang="en-US" sz="1100" dirty="0"/>
          </a:p>
        </p:txBody>
      </p:sp>
      <p:sp>
        <p:nvSpPr>
          <p:cNvPr id="3" name="Text 1"/>
          <p:cNvSpPr txBox="1"/>
          <p:nvPr/>
        </p:nvSpPr>
        <p:spPr>
          <a:xfrm>
            <a:off x="566928" y="658368"/>
            <a:ext cx="11064240" cy="8686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Memoria antes que modelo</a:t>
            </a:r>
            <a:endParaRPr lang="en-US" sz="3400" dirty="0"/>
          </a:p>
        </p:txBody>
      </p:sp>
      <p:sp>
        <p:nvSpPr>
          <p:cNvPr id="4" name="Shape 2"/>
          <p:cNvSpPr/>
          <p:nvPr/>
        </p:nvSpPr>
        <p:spPr>
          <a:xfrm>
            <a:off x="566928" y="1920240"/>
            <a:ext cx="3474720" cy="2194560"/>
          </a:xfrm>
          <a:prstGeom prst="roundRect">
            <a:avLst>
              <a:gd name="adj" fmla="val 3750"/>
            </a:avLst>
          </a:prstGeom>
          <a:solidFill>
            <a:srgbClr val="2A3646"/>
          </a:solidFill>
          <a:ln w="12700">
            <a:solidFill>
              <a:srgbClr val="2A3646"/>
            </a:solidFill>
            <a:prstDash val="solid"/>
          </a:ln>
        </p:spPr>
      </p:sp>
      <p:sp>
        <p:nvSpPr>
          <p:cNvPr id="5" name="Text 3"/>
          <p:cNvSpPr txBox="1"/>
          <p:nvPr/>
        </p:nvSpPr>
        <p:spPr>
          <a:xfrm>
            <a:off x="841248" y="2194560"/>
            <a:ext cx="2926080" cy="365760"/>
          </a:xfrm>
          <a:prstGeom prst="rect">
            <a:avLst/>
          </a:prstGeom>
          <a:noFill/>
          <a:ln/>
        </p:spPr>
        <p:txBody>
          <a:bodyPr wrap="square" lIns="0" tIns="0" rIns="0" bIns="0" rtlCol="0" anchor="ctr"/>
          <a:lstStyle/>
          <a:p>
            <a:pPr indent="0" marL="0">
              <a:buNone/>
            </a:pPr>
            <a:r>
              <a:rPr lang="en-US" sz="1500" b="1" dirty="0">
                <a:solidFill>
                  <a:srgbClr val="00A896"/>
                </a:solidFill>
                <a:latin typeface="Calibri" pitchFamily="34" charset="0"/>
                <a:ea typeface="Calibri" pitchFamily="34" charset="-122"/>
                <a:cs typeface="Calibri" pitchFamily="34" charset="-120"/>
              </a:rPr>
              <a:t>Caso completo</a:t>
            </a:r>
            <a:endParaRPr lang="en-US" sz="1500" dirty="0"/>
          </a:p>
        </p:txBody>
      </p:sp>
      <p:sp>
        <p:nvSpPr>
          <p:cNvPr id="6" name="Text 4"/>
          <p:cNvSpPr txBox="1"/>
          <p:nvPr/>
        </p:nvSpPr>
        <p:spPr>
          <a:xfrm>
            <a:off x="841248" y="2697480"/>
            <a:ext cx="2971800" cy="1234440"/>
          </a:xfrm>
          <a:prstGeom prst="rect">
            <a:avLst/>
          </a:prstGeom>
          <a:noFill/>
          <a:ln/>
        </p:spPr>
        <p:txBody>
          <a:bodyPr wrap="square" lIns="0" tIns="0" rIns="0" bIns="0" rtlCol="0" anchor="t"/>
          <a:lstStyle/>
          <a:p>
            <a:pPr indent="0" marL="0">
              <a:lnSpc>
                <a:spcPts val="1600"/>
              </a:lnSpc>
              <a:buNone/>
            </a:pPr>
            <a:r>
              <a:rPr lang="en-US" sz="1250" dirty="0">
                <a:solidFill>
                  <a:srgbClr val="D7DDE4"/>
                </a:solidFill>
                <a:latin typeface="Calibri" pitchFamily="34" charset="0"/>
                <a:ea typeface="Calibri" pitchFamily="34" charset="-122"/>
                <a:cs typeface="Calibri" pitchFamily="34" charset="-120"/>
              </a:rPr>
              <a:t>Un caso equivalente por fingerprint se conserva localmente y no se invoca al agente.</a:t>
            </a:r>
            <a:endParaRPr lang="en-US" sz="1250" dirty="0"/>
          </a:p>
        </p:txBody>
      </p:sp>
      <p:sp>
        <p:nvSpPr>
          <p:cNvPr id="7" name="Shape 5"/>
          <p:cNvSpPr/>
          <p:nvPr/>
        </p:nvSpPr>
        <p:spPr>
          <a:xfrm>
            <a:off x="4270248" y="1920240"/>
            <a:ext cx="3474720" cy="2194560"/>
          </a:xfrm>
          <a:prstGeom prst="roundRect">
            <a:avLst>
              <a:gd name="adj" fmla="val 3750"/>
            </a:avLst>
          </a:prstGeom>
          <a:solidFill>
            <a:srgbClr val="2A3646"/>
          </a:solidFill>
          <a:ln w="12700">
            <a:solidFill>
              <a:srgbClr val="2A3646"/>
            </a:solidFill>
            <a:prstDash val="solid"/>
          </a:ln>
        </p:spPr>
      </p:sp>
      <p:sp>
        <p:nvSpPr>
          <p:cNvPr id="8" name="Text 6"/>
          <p:cNvSpPr txBox="1"/>
          <p:nvPr/>
        </p:nvSpPr>
        <p:spPr>
          <a:xfrm>
            <a:off x="4544568" y="2194560"/>
            <a:ext cx="2926080" cy="365760"/>
          </a:xfrm>
          <a:prstGeom prst="rect">
            <a:avLst/>
          </a:prstGeom>
          <a:noFill/>
          <a:ln/>
        </p:spPr>
        <p:txBody>
          <a:bodyPr wrap="square" lIns="0" tIns="0" rIns="0" bIns="0" rtlCol="0" anchor="ctr"/>
          <a:lstStyle/>
          <a:p>
            <a:pPr indent="0" marL="0">
              <a:buNone/>
            </a:pPr>
            <a:r>
              <a:rPr lang="en-US" sz="1500" b="1" dirty="0">
                <a:solidFill>
                  <a:srgbClr val="00A896"/>
                </a:solidFill>
                <a:latin typeface="Calibri" pitchFamily="34" charset="0"/>
                <a:ea typeface="Calibri" pitchFamily="34" charset="-122"/>
                <a:cs typeface="Calibri" pitchFamily="34" charset="-120"/>
              </a:rPr>
              <a:t>Fragmentos por step</a:t>
            </a:r>
            <a:endParaRPr lang="en-US" sz="1500" dirty="0"/>
          </a:p>
        </p:txBody>
      </p:sp>
      <p:sp>
        <p:nvSpPr>
          <p:cNvPr id="9" name="Text 7"/>
          <p:cNvSpPr txBox="1"/>
          <p:nvPr/>
        </p:nvSpPr>
        <p:spPr>
          <a:xfrm>
            <a:off x="4544568" y="2697480"/>
            <a:ext cx="2971800" cy="1234440"/>
          </a:xfrm>
          <a:prstGeom prst="rect">
            <a:avLst/>
          </a:prstGeom>
          <a:noFill/>
          <a:ln/>
        </p:spPr>
        <p:txBody>
          <a:bodyPr wrap="square" lIns="0" tIns="0" rIns="0" bIns="0" rtlCol="0" anchor="t"/>
          <a:lstStyle/>
          <a:p>
            <a:pPr indent="0" marL="0">
              <a:lnSpc>
                <a:spcPts val="1600"/>
              </a:lnSpc>
              <a:buNone/>
            </a:pPr>
            <a:r>
              <a:rPr lang="en-US" sz="1250" dirty="0">
                <a:solidFill>
                  <a:srgbClr val="D7DDE4"/>
                </a:solidFill>
                <a:latin typeface="Calibri" pitchFamily="34" charset="0"/>
                <a:ea typeface="Calibri" pitchFamily="34" charset="-122"/>
                <a:cs typeface="Calibri" pitchFamily="34" charset="-120"/>
              </a:rPr>
              <a:t>Por cada step validado se guarda la secuencia de elementos que cubre, con su texto, keyword y método de Screen.</a:t>
            </a:r>
            <a:endParaRPr lang="en-US" sz="1250" dirty="0"/>
          </a:p>
        </p:txBody>
      </p:sp>
      <p:sp>
        <p:nvSpPr>
          <p:cNvPr id="10" name="Shape 8"/>
          <p:cNvSpPr/>
          <p:nvPr/>
        </p:nvSpPr>
        <p:spPr>
          <a:xfrm>
            <a:off x="7973568" y="1920240"/>
            <a:ext cx="3474720" cy="2194560"/>
          </a:xfrm>
          <a:prstGeom prst="roundRect">
            <a:avLst>
              <a:gd name="adj" fmla="val 3750"/>
            </a:avLst>
          </a:prstGeom>
          <a:solidFill>
            <a:srgbClr val="2A3646"/>
          </a:solidFill>
          <a:ln w="12700">
            <a:solidFill>
              <a:srgbClr val="2A3646"/>
            </a:solidFill>
            <a:prstDash val="solid"/>
          </a:ln>
        </p:spPr>
      </p:sp>
      <p:sp>
        <p:nvSpPr>
          <p:cNvPr id="11" name="Text 9"/>
          <p:cNvSpPr txBox="1"/>
          <p:nvPr/>
        </p:nvSpPr>
        <p:spPr>
          <a:xfrm>
            <a:off x="8247888" y="2194560"/>
            <a:ext cx="2926080" cy="365760"/>
          </a:xfrm>
          <a:prstGeom prst="rect">
            <a:avLst/>
          </a:prstGeom>
          <a:noFill/>
          <a:ln/>
        </p:spPr>
        <p:txBody>
          <a:bodyPr wrap="square" lIns="0" tIns="0" rIns="0" bIns="0" rtlCol="0" anchor="ctr"/>
          <a:lstStyle/>
          <a:p>
            <a:pPr indent="0" marL="0">
              <a:buNone/>
            </a:pPr>
            <a:r>
              <a:rPr lang="en-US" sz="1500" b="1" dirty="0">
                <a:solidFill>
                  <a:srgbClr val="00A896"/>
                </a:solidFill>
                <a:latin typeface="Calibri" pitchFamily="34" charset="0"/>
                <a:ea typeface="Calibri" pitchFamily="34" charset="-122"/>
                <a:cs typeface="Calibri" pitchFamily="34" charset="-120"/>
              </a:rPr>
              <a:t>Transversal a squads</a:t>
            </a:r>
            <a:endParaRPr lang="en-US" sz="1500" dirty="0"/>
          </a:p>
        </p:txBody>
      </p:sp>
      <p:sp>
        <p:nvSpPr>
          <p:cNvPr id="12" name="Text 10"/>
          <p:cNvSpPr txBox="1"/>
          <p:nvPr/>
        </p:nvSpPr>
        <p:spPr>
          <a:xfrm>
            <a:off x="8247888" y="2697480"/>
            <a:ext cx="2971800" cy="1234440"/>
          </a:xfrm>
          <a:prstGeom prst="rect">
            <a:avLst/>
          </a:prstGeom>
          <a:noFill/>
          <a:ln/>
        </p:spPr>
        <p:txBody>
          <a:bodyPr wrap="square" lIns="0" tIns="0" rIns="0" bIns="0" rtlCol="0" anchor="t"/>
          <a:lstStyle/>
          <a:p>
            <a:pPr indent="0" marL="0">
              <a:lnSpc>
                <a:spcPts val="1600"/>
              </a:lnSpc>
              <a:buNone/>
            </a:pPr>
            <a:r>
              <a:rPr lang="en-US" sz="1250" dirty="0">
                <a:solidFill>
                  <a:srgbClr val="D7DDE4"/>
                </a:solidFill>
                <a:latin typeface="Calibri" pitchFamily="34" charset="0"/>
                <a:ea typeface="Calibri" pitchFamily="34" charset="-122"/>
                <a:cs typeface="Calibri" pitchFamily="34" charset="-120"/>
              </a:rPr>
              <a:t>El elemento es el mismo lo grabe quien lo grabe; al recordar se prefiere el fragmento del squad propio.</a:t>
            </a:r>
            <a:endParaRPr lang="en-US" sz="1250" dirty="0"/>
          </a:p>
        </p:txBody>
      </p:sp>
      <p:sp>
        <p:nvSpPr>
          <p:cNvPr id="13" name="Text 11"/>
          <p:cNvSpPr txBox="1"/>
          <p:nvPr/>
        </p:nvSpPr>
        <p:spPr>
          <a:xfrm>
            <a:off x="566928" y="4572000"/>
            <a:ext cx="11064240" cy="457200"/>
          </a:xfrm>
          <a:prstGeom prst="rect">
            <a:avLst/>
          </a:prstGeom>
          <a:noFill/>
          <a:ln/>
        </p:spPr>
        <p:txBody>
          <a:bodyPr wrap="square" lIns="0" tIns="0" rIns="0" bIns="0" rtlCol="0" anchor="ctr"/>
          <a:lstStyle/>
          <a:p>
            <a:pPr indent="0" marL="0">
              <a:buNone/>
            </a:pPr>
            <a:r>
              <a:rPr lang="en-US" sz="2100" i="1" dirty="0">
                <a:solidFill>
                  <a:srgbClr val="FFFFFF"/>
                </a:solidFill>
                <a:latin typeface="Cambria" pitchFamily="34" charset="0"/>
                <a:ea typeface="Cambria" pitchFamily="34" charset="-122"/>
                <a:cs typeface="Cambria" pitchFamily="34" charset="-120"/>
              </a:rPr>
              <a:t>“Un caso B que es A más un paso hereda los steps de A y solo redacta el nuevo.”</a:t>
            </a:r>
            <a:endParaRPr lang="en-US" sz="2100" dirty="0"/>
          </a:p>
        </p:txBody>
      </p:sp>
      <p:sp>
        <p:nvSpPr>
          <p:cNvPr id="14" name="Text 12"/>
          <p:cNvSpPr txBox="1"/>
          <p:nvPr/>
        </p:nvSpPr>
        <p:spPr>
          <a:xfrm>
            <a:off x="566928" y="5212080"/>
            <a:ext cx="11064240" cy="868680"/>
          </a:xfrm>
          <a:prstGeom prst="rect">
            <a:avLst/>
          </a:prstGeom>
          <a:noFill/>
          <a:ln/>
        </p:spPr>
        <p:txBody>
          <a:bodyPr wrap="square" lIns="0" tIns="0" rIns="0" bIns="0" rtlCol="0" anchor="ctr"/>
          <a:lstStyle/>
          <a:p>
            <a:pPr indent="0" marL="0">
              <a:lnSpc>
                <a:spcPts val="1900"/>
              </a:lnSpc>
              <a:buNone/>
            </a:pPr>
            <a:r>
              <a:rPr lang="en-US" sz="1400" dirty="0">
                <a:solidFill>
                  <a:srgbClr val="9AA6B2"/>
                </a:solidFill>
                <a:latin typeface="Calibri" pitchFamily="34" charset="0"/>
                <a:ea typeface="Calibri" pitchFamily="34" charset="-122"/>
                <a:cs typeface="Calibri" pitchFamily="34" charset="-120"/>
              </a:rPr>
              <a:t>Cuando todas las filas vienen de memoria o del framework y no quedan gaps abiertos, Zorem no corre —su resultado se materializa desde el borrador— y Lorem corre en modo revisión: contexto mínimo, no redacta y solo publica la revisión de diseño.</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QUÉ GARANTIZA</a:t>
            </a:r>
            <a:endParaRPr lang="en-US" sz="1100" dirty="0"/>
          </a:p>
        </p:txBody>
      </p:sp>
      <p:sp>
        <p:nvSpPr>
          <p:cNvPr id="3" name="Text 1"/>
          <p:cNvSpPr txBox="1"/>
          <p:nvPr/>
        </p:nvSpPr>
        <p:spPr>
          <a:xfrm>
            <a:off x="566928" y="658368"/>
            <a:ext cx="11064240" cy="86868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Cinco puertas entre la respuesta del agente y el framework</a:t>
            </a:r>
            <a:endParaRPr lang="en-US" sz="3000" dirty="0"/>
          </a:p>
        </p:txBody>
      </p:sp>
      <p:sp>
        <p:nvSpPr>
          <p:cNvPr id="4" name="Shape 2"/>
          <p:cNvSpPr/>
          <p:nvPr/>
        </p:nvSpPr>
        <p:spPr>
          <a:xfrm>
            <a:off x="566928" y="1746504"/>
            <a:ext cx="420624" cy="420624"/>
          </a:xfrm>
          <a:prstGeom prst="ellipse">
            <a:avLst/>
          </a:prstGeom>
          <a:solidFill>
            <a:srgbClr val="00A896"/>
          </a:solidFill>
          <a:ln w="12700">
            <a:solidFill>
              <a:srgbClr val="00A896"/>
            </a:solidFill>
            <a:prstDash val="solid"/>
          </a:ln>
        </p:spPr>
      </p:sp>
      <p:sp>
        <p:nvSpPr>
          <p:cNvPr id="5" name="Text 3"/>
          <p:cNvSpPr txBox="1"/>
          <p:nvPr/>
        </p:nvSpPr>
        <p:spPr>
          <a:xfrm>
            <a:off x="566928" y="1746504"/>
            <a:ext cx="42062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01</a:t>
            </a:r>
            <a:endParaRPr lang="en-US" sz="1150" dirty="0"/>
          </a:p>
        </p:txBody>
      </p:sp>
      <p:sp>
        <p:nvSpPr>
          <p:cNvPr id="6" name="Text 4"/>
          <p:cNvSpPr txBox="1"/>
          <p:nvPr/>
        </p:nvSpPr>
        <p:spPr>
          <a:xfrm>
            <a:off x="1161288" y="1673352"/>
            <a:ext cx="3703320" cy="457200"/>
          </a:xfrm>
          <a:prstGeom prst="rect">
            <a:avLst/>
          </a:prstGeom>
          <a:noFill/>
          <a:ln/>
        </p:spPr>
        <p:txBody>
          <a:bodyPr wrap="square" lIns="0" tIns="0" rIns="0" bIns="0" rtlCol="0" anchor="t"/>
          <a:lstStyle/>
          <a:p>
            <a:pPr indent="0" marL="0">
              <a:buNone/>
            </a:pPr>
            <a:r>
              <a:rPr lang="en-US" sz="1450" b="1" dirty="0">
                <a:solidFill>
                  <a:srgbClr val="1B2430"/>
                </a:solidFill>
                <a:latin typeface="Calibri" pitchFamily="34" charset="0"/>
                <a:ea typeface="Calibri" pitchFamily="34" charset="-122"/>
                <a:cs typeface="Calibri" pitchFamily="34" charset="-120"/>
              </a:rPr>
              <a:t>Validador por familias, en orden fijo</a:t>
            </a:r>
            <a:endParaRPr lang="en-US" sz="1450" dirty="0"/>
          </a:p>
        </p:txBody>
      </p:sp>
      <p:sp>
        <p:nvSpPr>
          <p:cNvPr id="7" name="Text 5"/>
          <p:cNvSpPr txBox="1"/>
          <p:nvPr/>
        </p:nvSpPr>
        <p:spPr>
          <a:xfrm>
            <a:off x="5001768" y="1673352"/>
            <a:ext cx="7086600" cy="777240"/>
          </a:xfrm>
          <a:prstGeom prst="rect">
            <a:avLst/>
          </a:prstGeom>
          <a:noFill/>
          <a:ln/>
        </p:spPr>
        <p:txBody>
          <a:bodyPr wrap="square" lIns="0" tIns="0" rIns="0" bIns="0" rtlCol="0" anchor="t"/>
          <a:lstStyle/>
          <a:p>
            <a:pPr indent="0" marL="0">
              <a:lnSpc>
                <a:spcPts val="1550"/>
              </a:lnSpc>
              <a:buNone/>
            </a:pPr>
            <a:r>
              <a:rPr lang="en-US" sz="1250" dirty="0">
                <a:solidFill>
                  <a:srgbClr val="6B7683"/>
                </a:solidFill>
                <a:latin typeface="Calibri" pitchFamily="34" charset="0"/>
                <a:ea typeface="Calibri" pitchFamily="34" charset="-122"/>
                <a:cs typeface="Calibri" pitchFamily="34" charset="-120"/>
              </a:rPr>
              <a:t>Envelope, sintaxis, completitud, capa, gaps, contrato de locator y automatización existente; luego, sobre el preview, salida, calidad Gherkin, estructura y colisiones.</a:t>
            </a:r>
            <a:endParaRPr lang="en-US" sz="1250" dirty="0"/>
          </a:p>
        </p:txBody>
      </p:sp>
      <p:sp>
        <p:nvSpPr>
          <p:cNvPr id="8" name="Shape 6"/>
          <p:cNvSpPr/>
          <p:nvPr/>
        </p:nvSpPr>
        <p:spPr>
          <a:xfrm>
            <a:off x="566928" y="2615184"/>
            <a:ext cx="420624" cy="420624"/>
          </a:xfrm>
          <a:prstGeom prst="ellipse">
            <a:avLst/>
          </a:prstGeom>
          <a:solidFill>
            <a:srgbClr val="00A896"/>
          </a:solidFill>
          <a:ln w="12700">
            <a:solidFill>
              <a:srgbClr val="00A896"/>
            </a:solidFill>
            <a:prstDash val="solid"/>
          </a:ln>
        </p:spPr>
      </p:sp>
      <p:sp>
        <p:nvSpPr>
          <p:cNvPr id="9" name="Text 7"/>
          <p:cNvSpPr txBox="1"/>
          <p:nvPr/>
        </p:nvSpPr>
        <p:spPr>
          <a:xfrm>
            <a:off x="566928" y="2615184"/>
            <a:ext cx="42062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02</a:t>
            </a:r>
            <a:endParaRPr lang="en-US" sz="1150" dirty="0"/>
          </a:p>
        </p:txBody>
      </p:sp>
      <p:sp>
        <p:nvSpPr>
          <p:cNvPr id="10" name="Text 8"/>
          <p:cNvSpPr txBox="1"/>
          <p:nvPr/>
        </p:nvSpPr>
        <p:spPr>
          <a:xfrm>
            <a:off x="1161288" y="2542032"/>
            <a:ext cx="3703320" cy="457200"/>
          </a:xfrm>
          <a:prstGeom prst="rect">
            <a:avLst/>
          </a:prstGeom>
          <a:noFill/>
          <a:ln/>
        </p:spPr>
        <p:txBody>
          <a:bodyPr wrap="square" lIns="0" tIns="0" rIns="0" bIns="0" rtlCol="0" anchor="t"/>
          <a:lstStyle/>
          <a:p>
            <a:pPr indent="0" marL="0">
              <a:buNone/>
            </a:pPr>
            <a:r>
              <a:rPr lang="en-US" sz="1450" b="1" dirty="0">
                <a:solidFill>
                  <a:srgbClr val="1B2430"/>
                </a:solidFill>
                <a:latin typeface="Calibri" pitchFamily="34" charset="0"/>
                <a:ea typeface="Calibri" pitchFamily="34" charset="-122"/>
                <a:cs typeface="Calibri" pitchFamily="34" charset="-120"/>
              </a:rPr>
              <a:t>Feedback dirigido a un solo dueño</a:t>
            </a:r>
            <a:endParaRPr lang="en-US" sz="1450" dirty="0"/>
          </a:p>
        </p:txBody>
      </p:sp>
      <p:sp>
        <p:nvSpPr>
          <p:cNvPr id="11" name="Text 9"/>
          <p:cNvSpPr txBox="1"/>
          <p:nvPr/>
        </p:nvSpPr>
        <p:spPr>
          <a:xfrm>
            <a:off x="5001768" y="2542032"/>
            <a:ext cx="7086600" cy="777240"/>
          </a:xfrm>
          <a:prstGeom prst="rect">
            <a:avLst/>
          </a:prstGeom>
          <a:noFill/>
          <a:ln/>
        </p:spPr>
        <p:txBody>
          <a:bodyPr wrap="square" lIns="0" tIns="0" rIns="0" bIns="0" rtlCol="0" anchor="t"/>
          <a:lstStyle/>
          <a:p>
            <a:pPr indent="0" marL="0">
              <a:lnSpc>
                <a:spcPts val="1550"/>
              </a:lnSpc>
              <a:buNone/>
            </a:pPr>
            <a:r>
              <a:rPr lang="en-US" sz="1250" dirty="0">
                <a:solidFill>
                  <a:srgbClr val="6B7683"/>
                </a:solidFill>
                <a:latin typeface="Calibri" pitchFamily="34" charset="0"/>
                <a:ea typeface="Calibri" pitchFamily="34" charset="-122"/>
                <a:cs typeface="Calibri" pitchFamily="34" charset="-120"/>
              </a:rPr>
              <a:t>Derek clasifica cada error primero por el archivo al que apunta y después por el código de la regla; solo se reejecuta la capa culpable.</a:t>
            </a:r>
            <a:endParaRPr lang="en-US" sz="1250" dirty="0"/>
          </a:p>
        </p:txBody>
      </p:sp>
      <p:sp>
        <p:nvSpPr>
          <p:cNvPr id="12" name="Shape 10"/>
          <p:cNvSpPr/>
          <p:nvPr/>
        </p:nvSpPr>
        <p:spPr>
          <a:xfrm>
            <a:off x="566928" y="3483864"/>
            <a:ext cx="420624" cy="420624"/>
          </a:xfrm>
          <a:prstGeom prst="ellipse">
            <a:avLst/>
          </a:prstGeom>
          <a:solidFill>
            <a:srgbClr val="00A896"/>
          </a:solidFill>
          <a:ln w="12700">
            <a:solidFill>
              <a:srgbClr val="00A896"/>
            </a:solidFill>
            <a:prstDash val="solid"/>
          </a:ln>
        </p:spPr>
      </p:sp>
      <p:sp>
        <p:nvSpPr>
          <p:cNvPr id="13" name="Text 11"/>
          <p:cNvSpPr txBox="1"/>
          <p:nvPr/>
        </p:nvSpPr>
        <p:spPr>
          <a:xfrm>
            <a:off x="566928" y="3483864"/>
            <a:ext cx="42062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03</a:t>
            </a:r>
            <a:endParaRPr lang="en-US" sz="1150" dirty="0"/>
          </a:p>
        </p:txBody>
      </p:sp>
      <p:sp>
        <p:nvSpPr>
          <p:cNvPr id="14" name="Text 12"/>
          <p:cNvSpPr txBox="1"/>
          <p:nvPr/>
        </p:nvSpPr>
        <p:spPr>
          <a:xfrm>
            <a:off x="1161288" y="3410712"/>
            <a:ext cx="3703320" cy="457200"/>
          </a:xfrm>
          <a:prstGeom prst="rect">
            <a:avLst/>
          </a:prstGeom>
          <a:noFill/>
          <a:ln/>
        </p:spPr>
        <p:txBody>
          <a:bodyPr wrap="square" lIns="0" tIns="0" rIns="0" bIns="0" rtlCol="0" anchor="t"/>
          <a:lstStyle/>
          <a:p>
            <a:pPr indent="0" marL="0">
              <a:buNone/>
            </a:pPr>
            <a:r>
              <a:rPr lang="en-US" sz="1450" b="1" dirty="0">
                <a:solidFill>
                  <a:srgbClr val="1B2430"/>
                </a:solidFill>
                <a:latin typeface="Calibri" pitchFamily="34" charset="0"/>
                <a:ea typeface="Calibri" pitchFamily="34" charset="-122"/>
                <a:cs typeface="Calibri" pitchFamily="34" charset="-120"/>
              </a:rPr>
              <a:t>Compilación real del overlay</a:t>
            </a:r>
            <a:endParaRPr lang="en-US" sz="1450" dirty="0"/>
          </a:p>
        </p:txBody>
      </p:sp>
      <p:sp>
        <p:nvSpPr>
          <p:cNvPr id="15" name="Text 13"/>
          <p:cNvSpPr txBox="1"/>
          <p:nvPr/>
        </p:nvSpPr>
        <p:spPr>
          <a:xfrm>
            <a:off x="5001768" y="3410712"/>
            <a:ext cx="7086600" cy="777240"/>
          </a:xfrm>
          <a:prstGeom prst="rect">
            <a:avLst/>
          </a:prstGeom>
          <a:noFill/>
          <a:ln/>
        </p:spPr>
        <p:txBody>
          <a:bodyPr wrap="square" lIns="0" tIns="0" rIns="0" bIns="0" rtlCol="0" anchor="t"/>
          <a:lstStyle/>
          <a:p>
            <a:pPr indent="0" marL="0">
              <a:lnSpc>
                <a:spcPts val="1550"/>
              </a:lnSpc>
              <a:buNone/>
            </a:pPr>
            <a:r>
              <a:rPr lang="en-US" sz="1250" dirty="0">
                <a:solidFill>
                  <a:srgbClr val="6B7683"/>
                </a:solidFill>
                <a:latin typeface="Calibri" pitchFamily="34" charset="0"/>
                <a:ea typeface="Calibri" pitchFamily="34" charset="-122"/>
                <a:cs typeface="Calibri" pitchFamily="34" charset="-120"/>
              </a:rPr>
              <a:t>Se comprueba contra el tsconfig y las dependencias del workspace, antes del preview y otra vez antes del commit, separando la deuda heredada.</a:t>
            </a:r>
            <a:endParaRPr lang="en-US" sz="1250" dirty="0"/>
          </a:p>
        </p:txBody>
      </p:sp>
      <p:sp>
        <p:nvSpPr>
          <p:cNvPr id="16" name="Shape 14"/>
          <p:cNvSpPr/>
          <p:nvPr/>
        </p:nvSpPr>
        <p:spPr>
          <a:xfrm>
            <a:off x="566928" y="4352544"/>
            <a:ext cx="420624" cy="420624"/>
          </a:xfrm>
          <a:prstGeom prst="ellipse">
            <a:avLst/>
          </a:prstGeom>
          <a:solidFill>
            <a:srgbClr val="00A896"/>
          </a:solidFill>
          <a:ln w="12700">
            <a:solidFill>
              <a:srgbClr val="00A896"/>
            </a:solidFill>
            <a:prstDash val="solid"/>
          </a:ln>
        </p:spPr>
      </p:sp>
      <p:sp>
        <p:nvSpPr>
          <p:cNvPr id="17" name="Text 15"/>
          <p:cNvSpPr txBox="1"/>
          <p:nvPr/>
        </p:nvSpPr>
        <p:spPr>
          <a:xfrm>
            <a:off x="566928" y="4352544"/>
            <a:ext cx="42062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04</a:t>
            </a:r>
            <a:endParaRPr lang="en-US" sz="1150" dirty="0"/>
          </a:p>
        </p:txBody>
      </p:sp>
      <p:sp>
        <p:nvSpPr>
          <p:cNvPr id="18" name="Text 16"/>
          <p:cNvSpPr txBox="1"/>
          <p:nvPr/>
        </p:nvSpPr>
        <p:spPr>
          <a:xfrm>
            <a:off x="1161288" y="4279392"/>
            <a:ext cx="3703320" cy="457200"/>
          </a:xfrm>
          <a:prstGeom prst="rect">
            <a:avLst/>
          </a:prstGeom>
          <a:noFill/>
          <a:ln/>
        </p:spPr>
        <p:txBody>
          <a:bodyPr wrap="square" lIns="0" tIns="0" rIns="0" bIns="0" rtlCol="0" anchor="t"/>
          <a:lstStyle/>
          <a:p>
            <a:pPr indent="0" marL="0">
              <a:buNone/>
            </a:pPr>
            <a:r>
              <a:rPr lang="en-US" sz="1450" b="1" dirty="0">
                <a:solidFill>
                  <a:srgbClr val="1B2430"/>
                </a:solidFill>
                <a:latin typeface="Calibri" pitchFamily="34" charset="0"/>
                <a:ea typeface="Calibri" pitchFamily="34" charset="-122"/>
                <a:cs typeface="Calibri" pitchFamily="34" charset="-120"/>
              </a:rPr>
              <a:t>El QA revisa los bytes finales</a:t>
            </a:r>
            <a:endParaRPr lang="en-US" sz="1450" dirty="0"/>
          </a:p>
        </p:txBody>
      </p:sp>
      <p:sp>
        <p:nvSpPr>
          <p:cNvPr id="19" name="Text 17"/>
          <p:cNvSpPr txBox="1"/>
          <p:nvPr/>
        </p:nvSpPr>
        <p:spPr>
          <a:xfrm>
            <a:off x="5001768" y="4279392"/>
            <a:ext cx="7086600" cy="777240"/>
          </a:xfrm>
          <a:prstGeom prst="rect">
            <a:avLst/>
          </a:prstGeom>
          <a:noFill/>
          <a:ln/>
        </p:spPr>
        <p:txBody>
          <a:bodyPr wrap="square" lIns="0" tIns="0" rIns="0" bIns="0" rtlCol="0" anchor="t"/>
          <a:lstStyle/>
          <a:p>
            <a:pPr indent="0" marL="0">
              <a:lnSpc>
                <a:spcPts val="1550"/>
              </a:lnSpc>
              <a:buNone/>
            </a:pPr>
            <a:r>
              <a:rPr lang="en-US" sz="1250" dirty="0">
                <a:solidFill>
                  <a:srgbClr val="6B7683"/>
                </a:solidFill>
                <a:latin typeface="Calibri" pitchFamily="34" charset="0"/>
                <a:ea typeface="Calibri" pitchFamily="34" charset="-122"/>
                <a:cs typeface="Calibri" pitchFamily="34" charset="-120"/>
              </a:rPr>
              <a:t>El preview muestra exactamente lo que se va a escribir, con su diff; el token conserva snapshots de todos los destinos.</a:t>
            </a:r>
            <a:endParaRPr lang="en-US" sz="1250" dirty="0"/>
          </a:p>
        </p:txBody>
      </p:sp>
      <p:sp>
        <p:nvSpPr>
          <p:cNvPr id="20" name="Shape 18"/>
          <p:cNvSpPr/>
          <p:nvPr/>
        </p:nvSpPr>
        <p:spPr>
          <a:xfrm>
            <a:off x="566928" y="5221224"/>
            <a:ext cx="420624" cy="420624"/>
          </a:xfrm>
          <a:prstGeom prst="ellipse">
            <a:avLst/>
          </a:prstGeom>
          <a:solidFill>
            <a:srgbClr val="F2A65A"/>
          </a:solidFill>
          <a:ln w="12700">
            <a:solidFill>
              <a:srgbClr val="F2A65A"/>
            </a:solidFill>
            <a:prstDash val="solid"/>
          </a:ln>
        </p:spPr>
      </p:sp>
      <p:sp>
        <p:nvSpPr>
          <p:cNvPr id="21" name="Text 19"/>
          <p:cNvSpPr txBox="1"/>
          <p:nvPr/>
        </p:nvSpPr>
        <p:spPr>
          <a:xfrm>
            <a:off x="566928" y="5221224"/>
            <a:ext cx="42062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05</a:t>
            </a:r>
            <a:endParaRPr lang="en-US" sz="1150" dirty="0"/>
          </a:p>
        </p:txBody>
      </p:sp>
      <p:sp>
        <p:nvSpPr>
          <p:cNvPr id="22" name="Text 20"/>
          <p:cNvSpPr txBox="1"/>
          <p:nvPr/>
        </p:nvSpPr>
        <p:spPr>
          <a:xfrm>
            <a:off x="1161288" y="5148072"/>
            <a:ext cx="3703320" cy="457200"/>
          </a:xfrm>
          <a:prstGeom prst="rect">
            <a:avLst/>
          </a:prstGeom>
          <a:noFill/>
          <a:ln/>
        </p:spPr>
        <p:txBody>
          <a:bodyPr wrap="square" lIns="0" tIns="0" rIns="0" bIns="0" rtlCol="0" anchor="t"/>
          <a:lstStyle/>
          <a:p>
            <a:pPr indent="0" marL="0">
              <a:buNone/>
            </a:pPr>
            <a:r>
              <a:rPr lang="en-US" sz="1450" b="1" dirty="0">
                <a:solidFill>
                  <a:srgbClr val="1B2430"/>
                </a:solidFill>
                <a:latin typeface="Calibri" pitchFamily="34" charset="0"/>
                <a:ea typeface="Calibri" pitchFamily="34" charset="-122"/>
                <a:cs typeface="Calibri" pitchFamily="34" charset="-120"/>
              </a:rPr>
              <a:t>Commit recuperable con recibo</a:t>
            </a:r>
            <a:endParaRPr lang="en-US" sz="1450" dirty="0"/>
          </a:p>
        </p:txBody>
      </p:sp>
      <p:sp>
        <p:nvSpPr>
          <p:cNvPr id="23" name="Text 21"/>
          <p:cNvSpPr txBox="1"/>
          <p:nvPr/>
        </p:nvSpPr>
        <p:spPr>
          <a:xfrm>
            <a:off x="5001768" y="5148072"/>
            <a:ext cx="7086600" cy="777240"/>
          </a:xfrm>
          <a:prstGeom prst="rect">
            <a:avLst/>
          </a:prstGeom>
          <a:noFill/>
          <a:ln/>
        </p:spPr>
        <p:txBody>
          <a:bodyPr wrap="square" lIns="0" tIns="0" rIns="0" bIns="0" rtlCol="0" anchor="t"/>
          <a:lstStyle/>
          <a:p>
            <a:pPr indent="0" marL="0">
              <a:lnSpc>
                <a:spcPts val="1550"/>
              </a:lnSpc>
              <a:buNone/>
            </a:pPr>
            <a:r>
              <a:rPr lang="en-US" sz="1250" dirty="0">
                <a:solidFill>
                  <a:srgbClr val="6B7683"/>
                </a:solidFill>
                <a:latin typeface="Calibri" pitchFamily="34" charset="0"/>
                <a:ea typeface="Calibri" pitchFamily="34" charset="-122"/>
                <a:cs typeface="Calibri" pitchFamily="34" charset="-120"/>
              </a:rPr>
              <a:t>Aplicar comprueba que los destinos sigan intactos, escribe el resultado exacto y registra el hash posterior de cada ruta aplicada.</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LO MÁS RECIENTE</a:t>
            </a:r>
            <a:endParaRPr lang="en-US" sz="1100" dirty="0"/>
          </a:p>
        </p:txBody>
      </p:sp>
      <p:sp>
        <p:nvSpPr>
          <p:cNvPr id="3" name="Text 1"/>
          <p:cNvSpPr txBox="1"/>
          <p:nvPr/>
        </p:nvSpPr>
        <p:spPr>
          <a:xfrm>
            <a:off x="566928" y="658368"/>
            <a:ext cx="11064240" cy="86868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Golden dataset: convertir un caso aceptado en referencia</a:t>
            </a:r>
            <a:endParaRPr lang="en-US" sz="3000" dirty="0"/>
          </a:p>
        </p:txBody>
      </p:sp>
      <p:sp>
        <p:nvSpPr>
          <p:cNvPr id="4" name="Shape 2"/>
          <p:cNvSpPr/>
          <p:nvPr/>
        </p:nvSpPr>
        <p:spPr>
          <a:xfrm>
            <a:off x="566928" y="1828800"/>
            <a:ext cx="2057400" cy="1691640"/>
          </a:xfrm>
          <a:prstGeom prst="roundRect">
            <a:avLst>
              <a:gd name="adj" fmla="val 4865"/>
            </a:avLst>
          </a:prstGeom>
          <a:solidFill>
            <a:srgbClr val="F1F3F5"/>
          </a:solidFill>
          <a:ln w="12700">
            <a:solidFill>
              <a:srgbClr val="F1F3F5"/>
            </a:solidFill>
            <a:prstDash val="solid"/>
          </a:ln>
        </p:spPr>
      </p:sp>
      <p:sp>
        <p:nvSpPr>
          <p:cNvPr id="5" name="Shape 3"/>
          <p:cNvSpPr/>
          <p:nvPr/>
        </p:nvSpPr>
        <p:spPr>
          <a:xfrm>
            <a:off x="822960" y="2029968"/>
            <a:ext cx="402336" cy="402336"/>
          </a:xfrm>
          <a:prstGeom prst="ellipse">
            <a:avLst/>
          </a:prstGeom>
          <a:solidFill>
            <a:srgbClr val="00A896"/>
          </a:solidFill>
          <a:ln w="12700">
            <a:solidFill>
              <a:srgbClr val="00A896"/>
            </a:solidFill>
            <a:prstDash val="solid"/>
          </a:ln>
        </p:spPr>
      </p:sp>
      <p:sp>
        <p:nvSpPr>
          <p:cNvPr id="6" name="Text 4"/>
          <p:cNvSpPr txBox="1"/>
          <p:nvPr/>
        </p:nvSpPr>
        <p:spPr>
          <a:xfrm>
            <a:off x="822960" y="202996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822960" y="2542032"/>
            <a:ext cx="1737360" cy="32004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Aplicado</a:t>
            </a:r>
            <a:endParaRPr lang="en-US" sz="1350" dirty="0"/>
          </a:p>
        </p:txBody>
      </p:sp>
      <p:sp>
        <p:nvSpPr>
          <p:cNvPr id="8" name="Text 6"/>
          <p:cNvSpPr txBox="1"/>
          <p:nvPr/>
        </p:nvSpPr>
        <p:spPr>
          <a:xfrm>
            <a:off x="822960" y="2871216"/>
            <a:ext cx="1600200" cy="566928"/>
          </a:xfrm>
          <a:prstGeom prst="rect">
            <a:avLst/>
          </a:prstGeom>
          <a:noFill/>
          <a:ln/>
        </p:spPr>
        <p:txBody>
          <a:bodyPr wrap="square" lIns="0" tIns="0" rIns="0" bIns="0" rtlCol="0" anchor="ctr"/>
          <a:lstStyle/>
          <a:p>
            <a:pPr indent="0" marL="0">
              <a:lnSpc>
                <a:spcPts val="1400"/>
              </a:lnSpc>
              <a:buNone/>
            </a:pPr>
            <a:r>
              <a:rPr lang="en-US" sz="1100" dirty="0">
                <a:solidFill>
                  <a:srgbClr val="6B7683"/>
                </a:solidFill>
                <a:latin typeface="Calibri" pitchFamily="34" charset="0"/>
                <a:ea typeface="Calibri" pitchFamily="34" charset="-122"/>
                <a:cs typeface="Calibri" pitchFamily="34" charset="-120"/>
              </a:rPr>
              <a:t>las cuatro capas ya están en el framework</a:t>
            </a:r>
            <a:endParaRPr lang="en-US" sz="1100" dirty="0"/>
          </a:p>
        </p:txBody>
      </p:sp>
      <p:sp>
        <p:nvSpPr>
          <p:cNvPr id="9" name="Shape 7"/>
          <p:cNvSpPr/>
          <p:nvPr/>
        </p:nvSpPr>
        <p:spPr>
          <a:xfrm>
            <a:off x="2807208" y="1828800"/>
            <a:ext cx="2057400" cy="1691640"/>
          </a:xfrm>
          <a:prstGeom prst="roundRect">
            <a:avLst>
              <a:gd name="adj" fmla="val 4865"/>
            </a:avLst>
          </a:prstGeom>
          <a:solidFill>
            <a:srgbClr val="F1F3F5"/>
          </a:solidFill>
          <a:ln w="12700">
            <a:solidFill>
              <a:srgbClr val="F1F3F5"/>
            </a:solidFill>
            <a:prstDash val="solid"/>
          </a:ln>
        </p:spPr>
      </p:sp>
      <p:sp>
        <p:nvSpPr>
          <p:cNvPr id="10" name="Shape 8"/>
          <p:cNvSpPr/>
          <p:nvPr/>
        </p:nvSpPr>
        <p:spPr>
          <a:xfrm>
            <a:off x="3063240" y="2029968"/>
            <a:ext cx="402336" cy="402336"/>
          </a:xfrm>
          <a:prstGeom prst="ellipse">
            <a:avLst/>
          </a:prstGeom>
          <a:solidFill>
            <a:srgbClr val="00A896"/>
          </a:solidFill>
          <a:ln w="12700">
            <a:solidFill>
              <a:srgbClr val="00A896"/>
            </a:solidFill>
            <a:prstDash val="solid"/>
          </a:ln>
        </p:spPr>
      </p:sp>
      <p:sp>
        <p:nvSpPr>
          <p:cNvPr id="11" name="Text 9"/>
          <p:cNvSpPr txBox="1"/>
          <p:nvPr/>
        </p:nvSpPr>
        <p:spPr>
          <a:xfrm>
            <a:off x="3063240" y="202996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3063240" y="2542032"/>
            <a:ext cx="1737360" cy="32004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Guardar</a:t>
            </a:r>
            <a:endParaRPr lang="en-US" sz="1350" dirty="0"/>
          </a:p>
        </p:txBody>
      </p:sp>
      <p:sp>
        <p:nvSpPr>
          <p:cNvPr id="13" name="Text 11"/>
          <p:cNvSpPr txBox="1"/>
          <p:nvPr/>
        </p:nvSpPr>
        <p:spPr>
          <a:xfrm>
            <a:off x="3063240" y="2871216"/>
            <a:ext cx="1600200" cy="566928"/>
          </a:xfrm>
          <a:prstGeom prst="rect">
            <a:avLst/>
          </a:prstGeom>
          <a:noFill/>
          <a:ln/>
        </p:spPr>
        <p:txBody>
          <a:bodyPr wrap="square" lIns="0" tIns="0" rIns="0" bIns="0" rtlCol="0" anchor="ctr"/>
          <a:lstStyle/>
          <a:p>
            <a:pPr indent="0" marL="0">
              <a:lnSpc>
                <a:spcPts val="1400"/>
              </a:lnSpc>
              <a:buNone/>
            </a:pPr>
            <a:r>
              <a:rPr lang="en-US" sz="1100" dirty="0">
                <a:solidFill>
                  <a:srgbClr val="6B7683"/>
                </a:solidFill>
                <a:latin typeface="Calibri" pitchFamily="34" charset="0"/>
                <a:ea typeface="Calibri" pitchFamily="34" charset="-122"/>
                <a:cs typeface="Calibri" pitchFamily="34" charset="-120"/>
              </a:rPr>
              <a:t>desde el paso 3 o con el script, días después</a:t>
            </a:r>
            <a:endParaRPr lang="en-US" sz="1100" dirty="0"/>
          </a:p>
        </p:txBody>
      </p:sp>
      <p:sp>
        <p:nvSpPr>
          <p:cNvPr id="14" name="Shape 12"/>
          <p:cNvSpPr/>
          <p:nvPr/>
        </p:nvSpPr>
        <p:spPr>
          <a:xfrm>
            <a:off x="5047488" y="1828800"/>
            <a:ext cx="2057400" cy="1691640"/>
          </a:xfrm>
          <a:prstGeom prst="roundRect">
            <a:avLst>
              <a:gd name="adj" fmla="val 4865"/>
            </a:avLst>
          </a:prstGeom>
          <a:solidFill>
            <a:srgbClr val="F1F3F5"/>
          </a:solidFill>
          <a:ln w="12700">
            <a:solidFill>
              <a:srgbClr val="F1F3F5"/>
            </a:solidFill>
            <a:prstDash val="solid"/>
          </a:ln>
        </p:spPr>
      </p:sp>
      <p:sp>
        <p:nvSpPr>
          <p:cNvPr id="15" name="Shape 13"/>
          <p:cNvSpPr/>
          <p:nvPr/>
        </p:nvSpPr>
        <p:spPr>
          <a:xfrm>
            <a:off x="5303520" y="2029968"/>
            <a:ext cx="402336" cy="402336"/>
          </a:xfrm>
          <a:prstGeom prst="ellipse">
            <a:avLst/>
          </a:prstGeom>
          <a:solidFill>
            <a:srgbClr val="00A896"/>
          </a:solidFill>
          <a:ln w="12700">
            <a:solidFill>
              <a:srgbClr val="00A896"/>
            </a:solidFill>
            <a:prstDash val="solid"/>
          </a:ln>
        </p:spPr>
      </p:sp>
      <p:sp>
        <p:nvSpPr>
          <p:cNvPr id="16" name="Text 14"/>
          <p:cNvSpPr txBox="1"/>
          <p:nvPr/>
        </p:nvSpPr>
        <p:spPr>
          <a:xfrm>
            <a:off x="5303520" y="202996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5303520" y="2542032"/>
            <a:ext cx="1737360" cy="32004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¿Corrección?</a:t>
            </a:r>
            <a:endParaRPr lang="en-US" sz="1350" dirty="0"/>
          </a:p>
        </p:txBody>
      </p:sp>
      <p:sp>
        <p:nvSpPr>
          <p:cNvPr id="18" name="Text 16"/>
          <p:cNvSpPr txBox="1"/>
          <p:nvPr/>
        </p:nvSpPr>
        <p:spPr>
          <a:xfrm>
            <a:off x="5303520" y="2871216"/>
            <a:ext cx="1600200" cy="566928"/>
          </a:xfrm>
          <a:prstGeom prst="rect">
            <a:avLst/>
          </a:prstGeom>
          <a:noFill/>
          <a:ln/>
        </p:spPr>
        <p:txBody>
          <a:bodyPr wrap="square" lIns="0" tIns="0" rIns="0" bIns="0" rtlCol="0" anchor="ctr"/>
          <a:lstStyle/>
          <a:p>
            <a:pPr indent="0" marL="0">
              <a:lnSpc>
                <a:spcPts val="1400"/>
              </a:lnSpc>
              <a:buNone/>
            </a:pPr>
            <a:r>
              <a:rPr lang="en-US" sz="1100" dirty="0">
                <a:solidFill>
                  <a:srgbClr val="6B7683"/>
                </a:solidFill>
                <a:latin typeface="Calibri" pitchFamily="34" charset="0"/>
                <a:ea typeface="Calibri" pitchFamily="34" charset="-122"/>
                <a:cs typeface="Calibri" pitchFamily="34" charset="-120"/>
              </a:rPr>
              <a:t>el orden manda: editor, disco, agente</a:t>
            </a:r>
            <a:endParaRPr lang="en-US" sz="1100" dirty="0"/>
          </a:p>
        </p:txBody>
      </p:sp>
      <p:sp>
        <p:nvSpPr>
          <p:cNvPr id="19" name="Shape 17"/>
          <p:cNvSpPr/>
          <p:nvPr/>
        </p:nvSpPr>
        <p:spPr>
          <a:xfrm>
            <a:off x="7287768" y="1828800"/>
            <a:ext cx="2057400" cy="1691640"/>
          </a:xfrm>
          <a:prstGeom prst="roundRect">
            <a:avLst>
              <a:gd name="adj" fmla="val 4865"/>
            </a:avLst>
          </a:prstGeom>
          <a:solidFill>
            <a:srgbClr val="F1F3F5"/>
          </a:solidFill>
          <a:ln w="12700">
            <a:solidFill>
              <a:srgbClr val="F1F3F5"/>
            </a:solidFill>
            <a:prstDash val="solid"/>
          </a:ln>
        </p:spPr>
      </p:sp>
      <p:sp>
        <p:nvSpPr>
          <p:cNvPr id="20" name="Shape 18"/>
          <p:cNvSpPr/>
          <p:nvPr/>
        </p:nvSpPr>
        <p:spPr>
          <a:xfrm>
            <a:off x="7543800" y="2029968"/>
            <a:ext cx="402336" cy="402336"/>
          </a:xfrm>
          <a:prstGeom prst="ellipse">
            <a:avLst/>
          </a:prstGeom>
          <a:solidFill>
            <a:srgbClr val="F2A65A"/>
          </a:solidFill>
          <a:ln w="12700">
            <a:solidFill>
              <a:srgbClr val="F2A65A"/>
            </a:solidFill>
            <a:prstDash val="solid"/>
          </a:ln>
        </p:spPr>
      </p:sp>
      <p:sp>
        <p:nvSpPr>
          <p:cNvPr id="21" name="Text 19"/>
          <p:cNvSpPr txBox="1"/>
          <p:nvPr/>
        </p:nvSpPr>
        <p:spPr>
          <a:xfrm>
            <a:off x="7543800" y="202996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7543800" y="2542032"/>
            <a:ext cx="1737360" cy="32004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Revalida</a:t>
            </a:r>
            <a:endParaRPr lang="en-US" sz="1350" dirty="0"/>
          </a:p>
        </p:txBody>
      </p:sp>
      <p:sp>
        <p:nvSpPr>
          <p:cNvPr id="23" name="Text 21"/>
          <p:cNvSpPr txBox="1"/>
          <p:nvPr/>
        </p:nvSpPr>
        <p:spPr>
          <a:xfrm>
            <a:off x="7543800" y="2871216"/>
            <a:ext cx="1600200" cy="566928"/>
          </a:xfrm>
          <a:prstGeom prst="rect">
            <a:avLst/>
          </a:prstGeom>
          <a:noFill/>
          <a:ln/>
        </p:spPr>
        <p:txBody>
          <a:bodyPr wrap="square" lIns="0" tIns="0" rIns="0" bIns="0" rtlCol="0" anchor="ctr"/>
          <a:lstStyle/>
          <a:p>
            <a:pPr indent="0" marL="0">
              <a:lnSpc>
                <a:spcPts val="1400"/>
              </a:lnSpc>
              <a:buNone/>
            </a:pPr>
            <a:r>
              <a:rPr lang="en-US" sz="1100" dirty="0">
                <a:solidFill>
                  <a:srgbClr val="6B7683"/>
                </a:solidFill>
                <a:latin typeface="Calibri" pitchFamily="34" charset="0"/>
                <a:ea typeface="Calibri" pitchFamily="34" charset="-122"/>
                <a:cs typeface="Calibri" pitchFamily="34" charset="-120"/>
              </a:rPr>
              <a:t>si falla, no se toca absolutamente nada</a:t>
            </a:r>
            <a:endParaRPr lang="en-US" sz="1100" dirty="0"/>
          </a:p>
        </p:txBody>
      </p:sp>
      <p:sp>
        <p:nvSpPr>
          <p:cNvPr id="24" name="Shape 22"/>
          <p:cNvSpPr/>
          <p:nvPr/>
        </p:nvSpPr>
        <p:spPr>
          <a:xfrm>
            <a:off x="9528048" y="1828800"/>
            <a:ext cx="2057400" cy="1691640"/>
          </a:xfrm>
          <a:prstGeom prst="roundRect">
            <a:avLst>
              <a:gd name="adj" fmla="val 4865"/>
            </a:avLst>
          </a:prstGeom>
          <a:solidFill>
            <a:srgbClr val="F1F3F5"/>
          </a:solidFill>
          <a:ln w="12700">
            <a:solidFill>
              <a:srgbClr val="F1F3F5"/>
            </a:solidFill>
            <a:prstDash val="solid"/>
          </a:ln>
        </p:spPr>
      </p:sp>
      <p:sp>
        <p:nvSpPr>
          <p:cNvPr id="25" name="Shape 23"/>
          <p:cNvSpPr/>
          <p:nvPr/>
        </p:nvSpPr>
        <p:spPr>
          <a:xfrm>
            <a:off x="9784080" y="2029968"/>
            <a:ext cx="402336" cy="402336"/>
          </a:xfrm>
          <a:prstGeom prst="ellipse">
            <a:avLst/>
          </a:prstGeom>
          <a:solidFill>
            <a:srgbClr val="00A896"/>
          </a:solidFill>
          <a:ln w="12700">
            <a:solidFill>
              <a:srgbClr val="00A896"/>
            </a:solidFill>
            <a:prstDash val="solid"/>
          </a:ln>
        </p:spPr>
      </p:sp>
      <p:sp>
        <p:nvSpPr>
          <p:cNvPr id="26" name="Text 24"/>
          <p:cNvSpPr txBox="1"/>
          <p:nvPr/>
        </p:nvSpPr>
        <p:spPr>
          <a:xfrm>
            <a:off x="9784080" y="202996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9784080" y="2542032"/>
            <a:ext cx="1737360" cy="32004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tests/golden</a:t>
            </a:r>
            <a:endParaRPr lang="en-US" sz="1350" dirty="0"/>
          </a:p>
        </p:txBody>
      </p:sp>
      <p:sp>
        <p:nvSpPr>
          <p:cNvPr id="28" name="Text 26"/>
          <p:cNvSpPr txBox="1"/>
          <p:nvPr/>
        </p:nvSpPr>
        <p:spPr>
          <a:xfrm>
            <a:off x="9784080" y="2871216"/>
            <a:ext cx="1600200" cy="566928"/>
          </a:xfrm>
          <a:prstGeom prst="rect">
            <a:avLst/>
          </a:prstGeom>
          <a:noFill/>
          <a:ln/>
        </p:spPr>
        <p:txBody>
          <a:bodyPr wrap="square" lIns="0" tIns="0" rIns="0" bIns="0" rtlCol="0" anchor="ctr"/>
          <a:lstStyle/>
          <a:p>
            <a:pPr indent="0" marL="0">
              <a:lnSpc>
                <a:spcPts val="1400"/>
              </a:lnSpc>
              <a:buNone/>
            </a:pPr>
            <a:r>
              <a:rPr lang="en-US" sz="1100" dirty="0">
                <a:solidFill>
                  <a:srgbClr val="6B7683"/>
                </a:solidFill>
                <a:latin typeface="Calibri" pitchFamily="34" charset="0"/>
                <a:ea typeface="Calibri" pitchFamily="34" charset="-122"/>
                <a:cs typeface="Calibri" pitchFamily="34" charset="-120"/>
              </a:rPr>
              <a:t>manifest, package, baselines y expected</a:t>
            </a:r>
            <a:endParaRPr lang="en-US" sz="1100" dirty="0"/>
          </a:p>
        </p:txBody>
      </p:sp>
      <p:sp>
        <p:nvSpPr>
          <p:cNvPr id="29" name="Shape 27"/>
          <p:cNvSpPr/>
          <p:nvPr/>
        </p:nvSpPr>
        <p:spPr>
          <a:xfrm>
            <a:off x="566928" y="3840480"/>
            <a:ext cx="5486400" cy="2011680"/>
          </a:xfrm>
          <a:prstGeom prst="roundRect">
            <a:avLst>
              <a:gd name="adj" fmla="val 4091"/>
            </a:avLst>
          </a:prstGeom>
          <a:solidFill>
            <a:srgbClr val="F1F3F5"/>
          </a:solidFill>
          <a:ln w="12700">
            <a:solidFill>
              <a:srgbClr val="F1F3F5"/>
            </a:solidFill>
            <a:prstDash val="solid"/>
          </a:ln>
        </p:spPr>
      </p:sp>
      <p:sp>
        <p:nvSpPr>
          <p:cNvPr id="30" name="Text 28"/>
          <p:cNvSpPr txBox="1"/>
          <p:nvPr/>
        </p:nvSpPr>
        <p:spPr>
          <a:xfrm>
            <a:off x="841248" y="4023360"/>
            <a:ext cx="4754880" cy="32004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Para qué sirve</a:t>
            </a:r>
            <a:endParaRPr lang="en-US" sz="1500" dirty="0"/>
          </a:p>
        </p:txBody>
      </p:sp>
      <p:sp>
        <p:nvSpPr>
          <p:cNvPr id="31" name="Text 29"/>
          <p:cNvSpPr txBox="1"/>
          <p:nvPr/>
        </p:nvSpPr>
        <p:spPr>
          <a:xfrm>
            <a:off x="841248" y="4434840"/>
            <a:ext cx="4937760" cy="1280160"/>
          </a:xfrm>
          <a:prstGeom prst="rect">
            <a:avLst/>
          </a:prstGeom>
          <a:noFill/>
          <a:ln/>
        </p:spPr>
        <p:txBody>
          <a:bodyPr wrap="square" lIns="0" tIns="0" rIns="0" bIns="0" rtlCol="0" anchor="t"/>
          <a:lstStyle/>
          <a:p>
            <a:pPr marL="342900" indent="-342900">
              <a:lnSpc>
                <a:spcPts val="1550"/>
              </a:lnSpc>
              <a:spcAft>
                <a:spcPts val="800"/>
              </a:spcAft>
              <a:buSzPct val="100000"/>
              <a:buChar char="•"/>
            </a:pPr>
            <a:r>
              <a:rPr lang="en-US" sz="1250" dirty="0">
                <a:solidFill>
                  <a:srgbClr val="6B7683"/>
                </a:solidFill>
                <a:latin typeface="Calibri" pitchFamily="34" charset="0"/>
                <a:ea typeface="Calibri" pitchFamily="34" charset="-122"/>
                <a:cs typeface="Calibri" pitchFamily="34" charset="-120"/>
              </a:rPr>
              <a:t>Repetir el caso completo en pruebas, resolviendo con catálogo y snapshot</a:t>
            </a:r>
            <a:endParaRPr lang="en-US" sz="1250" dirty="0"/>
          </a:p>
          <a:p>
            <a:pPr marL="342900" indent="-342900">
              <a:lnSpc>
                <a:spcPts val="1550"/>
              </a:lnSpc>
              <a:spcAft>
                <a:spcPts val="800"/>
              </a:spcAft>
              <a:buSzPct val="100000"/>
              <a:buChar char="•"/>
            </a:pPr>
            <a:r>
              <a:rPr lang="en-US" sz="1250" dirty="0">
                <a:solidFill>
                  <a:srgbClr val="6B7683"/>
                </a:solidFill>
                <a:latin typeface="Calibri" pitchFamily="34" charset="0"/>
                <a:ea typeface="Calibri" pitchFamily="34" charset="-122"/>
                <a:cs typeface="Calibri" pitchFamily="34" charset="-120"/>
              </a:rPr>
              <a:t>Sembrar la memoria solo con los casos válidos al 100 % y fingerprint nuevo</a:t>
            </a:r>
            <a:endParaRPr lang="en-US" sz="1250" dirty="0"/>
          </a:p>
          <a:p>
            <a:pPr marL="342900" indent="-342900">
              <a:lnSpc>
                <a:spcPts val="1550"/>
              </a:lnSpc>
              <a:spcAft>
                <a:spcPts val="800"/>
              </a:spcAft>
              <a:buSzPct val="100000"/>
              <a:buChar char="•"/>
            </a:pPr>
            <a:r>
              <a:rPr lang="en-US" sz="1250" dirty="0">
                <a:solidFill>
                  <a:srgbClr val="6B7683"/>
                </a:solidFill>
                <a:latin typeface="Calibri" pitchFamily="34" charset="0"/>
                <a:ea typeface="Calibri" pitchFamily="34" charset="-122"/>
                <a:cs typeface="Calibri" pitchFamily="34" charset="-120"/>
              </a:rPr>
              <a:t>Guardar la corrección del QA como la respuesta buena, no la del agente</a:t>
            </a:r>
            <a:endParaRPr lang="en-US" sz="1250" dirty="0"/>
          </a:p>
        </p:txBody>
      </p:sp>
      <p:sp>
        <p:nvSpPr>
          <p:cNvPr id="32" name="Shape 30"/>
          <p:cNvSpPr/>
          <p:nvPr/>
        </p:nvSpPr>
        <p:spPr>
          <a:xfrm>
            <a:off x="6263640" y="3840480"/>
            <a:ext cx="5349240" cy="2011680"/>
          </a:xfrm>
          <a:prstGeom prst="roundRect">
            <a:avLst>
              <a:gd name="adj" fmla="val 4091"/>
            </a:avLst>
          </a:prstGeom>
          <a:solidFill>
            <a:srgbClr val="1B2430"/>
          </a:solidFill>
          <a:ln w="12700">
            <a:solidFill>
              <a:srgbClr val="1B2430"/>
            </a:solidFill>
            <a:prstDash val="solid"/>
          </a:ln>
        </p:spPr>
      </p:sp>
      <p:sp>
        <p:nvSpPr>
          <p:cNvPr id="33" name="Text 31"/>
          <p:cNvSpPr txBox="1"/>
          <p:nvPr/>
        </p:nvSpPr>
        <p:spPr>
          <a:xfrm>
            <a:off x="6537960" y="4023360"/>
            <a:ext cx="4754880" cy="320040"/>
          </a:xfrm>
          <a:prstGeom prst="rect">
            <a:avLst/>
          </a:prstGeom>
          <a:noFill/>
          <a:ln/>
        </p:spPr>
        <p:txBody>
          <a:bodyPr wrap="square" lIns="0" tIns="0" rIns="0" bIns="0" rtlCol="0" anchor="ctr"/>
          <a:lstStyle/>
          <a:p>
            <a:pPr indent="0" marL="0">
              <a:buNone/>
            </a:pPr>
            <a:r>
              <a:rPr lang="en-US" sz="1500" b="1" dirty="0">
                <a:solidFill>
                  <a:srgbClr val="F2A65A"/>
                </a:solidFill>
                <a:latin typeface="Calibri" pitchFamily="34" charset="0"/>
                <a:ea typeface="Calibri" pitchFamily="34" charset="-122"/>
                <a:cs typeface="Calibri" pitchFamily="34" charset="-120"/>
              </a:rPr>
              <a:t>La corrección manda</a:t>
            </a:r>
            <a:endParaRPr lang="en-US" sz="1500" dirty="0"/>
          </a:p>
        </p:txBody>
      </p:sp>
      <p:sp>
        <p:nvSpPr>
          <p:cNvPr id="34" name="Text 32"/>
          <p:cNvSpPr txBox="1"/>
          <p:nvPr/>
        </p:nvSpPr>
        <p:spPr>
          <a:xfrm>
            <a:off x="6537960" y="4434840"/>
            <a:ext cx="4800600" cy="1280160"/>
          </a:xfrm>
          <a:prstGeom prst="rect">
            <a:avLst/>
          </a:prstGeom>
          <a:noFill/>
          <a:ln/>
        </p:spPr>
        <p:txBody>
          <a:bodyPr wrap="square" lIns="0" tIns="0" rIns="0" bIns="0" rtlCol="0" anchor="t"/>
          <a:lstStyle/>
          <a:p>
            <a:pPr indent="0" marL="0">
              <a:lnSpc>
                <a:spcPts val="1600"/>
              </a:lnSpc>
              <a:buNone/>
            </a:pPr>
            <a:r>
              <a:rPr lang="en-US" sz="1250" dirty="0">
                <a:solidFill>
                  <a:srgbClr val="E6EAEF"/>
                </a:solidFill>
                <a:latin typeface="Calibri" pitchFamily="34" charset="0"/>
                <a:ea typeface="Calibri" pitchFamily="34" charset="-122"/>
                <a:cs typeface="Calibri" pitchFamily="34" charset="-120"/>
              </a:rPr>
              <a:t>Si el QA arregló un step, ese contenido se revalida y se reescribe al framework, y se regeneran el recibo de aplicación, la respuesta del agente y el reporte de validación. Si la revalidación falla, el guardado se rechaza con su reporte y no se modifica ningún archivo.</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indent="0" marL="0">
              <a:buNone/>
            </a:pPr>
            <a:r>
              <a:rPr lang="en-US" sz="1100" b="1" spc="200" kern="0" dirty="0">
                <a:solidFill>
                  <a:srgbClr val="F2A65A"/>
                </a:solidFill>
                <a:latin typeface="Calibri" pitchFamily="34" charset="0"/>
                <a:ea typeface="Calibri" pitchFamily="34" charset="-122"/>
                <a:cs typeface="Calibri" pitchFamily="34" charset="-120"/>
              </a:rPr>
              <a:t>DÓNDE ESTAMOS</a:t>
            </a:r>
            <a:endParaRPr lang="en-US" sz="1100" dirty="0"/>
          </a:p>
        </p:txBody>
      </p:sp>
      <p:sp>
        <p:nvSpPr>
          <p:cNvPr id="3" name="Text 1"/>
          <p:cNvSpPr txBox="1"/>
          <p:nvPr/>
        </p:nvSpPr>
        <p:spPr>
          <a:xfrm>
            <a:off x="566928" y="658368"/>
            <a:ext cx="11064240" cy="8686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Estado, deuda y lo que sigue</a:t>
            </a:r>
            <a:endParaRPr lang="en-US" sz="3400" dirty="0"/>
          </a:p>
        </p:txBody>
      </p:sp>
      <p:sp>
        <p:nvSpPr>
          <p:cNvPr id="4" name="Shape 2"/>
          <p:cNvSpPr/>
          <p:nvPr/>
        </p:nvSpPr>
        <p:spPr>
          <a:xfrm>
            <a:off x="566928" y="1828800"/>
            <a:ext cx="3474720" cy="3200400"/>
          </a:xfrm>
          <a:prstGeom prst="roundRect">
            <a:avLst>
              <a:gd name="adj" fmla="val 2571"/>
            </a:avLst>
          </a:prstGeom>
          <a:solidFill>
            <a:srgbClr val="2A3646"/>
          </a:solidFill>
          <a:ln w="12700">
            <a:solidFill>
              <a:srgbClr val="2A3646"/>
            </a:solidFill>
            <a:prstDash val="solid"/>
          </a:ln>
        </p:spPr>
      </p:sp>
      <p:sp>
        <p:nvSpPr>
          <p:cNvPr id="5" name="Text 3"/>
          <p:cNvSpPr txBox="1"/>
          <p:nvPr/>
        </p:nvSpPr>
        <p:spPr>
          <a:xfrm>
            <a:off x="841248" y="2057400"/>
            <a:ext cx="2926080" cy="365760"/>
          </a:xfrm>
          <a:prstGeom prst="rect">
            <a:avLst/>
          </a:prstGeom>
          <a:noFill/>
          <a:ln/>
        </p:spPr>
        <p:txBody>
          <a:bodyPr wrap="square" lIns="0" tIns="0" rIns="0" bIns="0" rtlCol="0" anchor="ctr"/>
          <a:lstStyle/>
          <a:p>
            <a:pPr indent="0" marL="0">
              <a:buNone/>
            </a:pPr>
            <a:r>
              <a:rPr lang="en-US" sz="1600" b="1" dirty="0">
                <a:solidFill>
                  <a:srgbClr val="00A896"/>
                </a:solidFill>
                <a:latin typeface="Calibri" pitchFamily="34" charset="0"/>
                <a:ea typeface="Calibri" pitchFamily="34" charset="-122"/>
                <a:cs typeface="Calibri" pitchFamily="34" charset="-120"/>
              </a:rPr>
              <a:t>Estado hoy</a:t>
            </a:r>
            <a:endParaRPr lang="en-US" sz="1600" dirty="0"/>
          </a:p>
        </p:txBody>
      </p:sp>
      <p:sp>
        <p:nvSpPr>
          <p:cNvPr id="6" name="Text 4"/>
          <p:cNvSpPr txBox="1"/>
          <p:nvPr/>
        </p:nvSpPr>
        <p:spPr>
          <a:xfrm>
            <a:off x="841248" y="2560320"/>
            <a:ext cx="2971800" cy="2286000"/>
          </a:xfrm>
          <a:prstGeom prst="rect">
            <a:avLst/>
          </a:prstGeom>
          <a:noFill/>
          <a:ln/>
        </p:spPr>
        <p:txBody>
          <a:bodyPr wrap="square" lIns="0" tIns="0" rIns="0" bIns="0" rtlCol="0" anchor="t"/>
          <a:lstStyle/>
          <a:p>
            <a:pPr marL="342900" indent="-342900">
              <a:lnSpc>
                <a:spcPts val="1600"/>
              </a:lnSpc>
              <a:spcAft>
                <a:spcPts val="1000"/>
              </a:spcAft>
              <a:buSzPct val="100000"/>
              <a:buChar char="•"/>
            </a:pPr>
            <a:r>
              <a:rPr lang="en-US" sz="1250" dirty="0">
                <a:solidFill>
                  <a:srgbClr val="D7DDE4"/>
                </a:solidFill>
                <a:latin typeface="Calibri" pitchFamily="34" charset="0"/>
                <a:ea typeface="Calibri" pitchFamily="34" charset="-122"/>
                <a:cs typeface="Calibri" pitchFamily="34" charset="-120"/>
              </a:rPr>
              <a:t>Rama de la pipeline multi-agente, repositorio público</a:t>
            </a:r>
            <a:endParaRPr lang="en-US" sz="1250" dirty="0"/>
          </a:p>
          <a:p>
            <a:pPr marL="342900" indent="-342900">
              <a:lnSpc>
                <a:spcPts val="1600"/>
              </a:lnSpc>
              <a:spcAft>
                <a:spcPts val="1000"/>
              </a:spcAft>
              <a:buSzPct val="100000"/>
              <a:buChar char="•"/>
            </a:pPr>
            <a:r>
              <a:rPr lang="en-US" sz="1250" dirty="0">
                <a:solidFill>
                  <a:srgbClr val="D7DDE4"/>
                </a:solidFill>
                <a:latin typeface="Calibri" pitchFamily="34" charset="0"/>
                <a:ea typeface="Calibri" pitchFamily="34" charset="-122"/>
                <a:cs typeface="Calibri" pitchFamily="34" charset="-120"/>
              </a:rPr>
              <a:t>Puerta de calidad: typecheck, chequeo de arquitectura, pruebas, métricas y build</a:t>
            </a:r>
            <a:endParaRPr lang="en-US" sz="1250" dirty="0"/>
          </a:p>
          <a:p>
            <a:pPr marL="342900" indent="-342900">
              <a:lnSpc>
                <a:spcPts val="1600"/>
              </a:lnSpc>
              <a:spcAft>
                <a:spcPts val="1000"/>
              </a:spcAft>
              <a:buSzPct val="100000"/>
              <a:buChar char="•"/>
            </a:pPr>
            <a:r>
              <a:rPr lang="en-US" sz="1250" dirty="0">
                <a:solidFill>
                  <a:srgbClr val="D7DDE4"/>
                </a:solidFill>
                <a:latin typeface="Calibri" pitchFamily="34" charset="0"/>
                <a:ea typeface="Calibri" pitchFamily="34" charset="-122"/>
                <a:cs typeface="Calibri" pitchFamily="34" charset="-120"/>
              </a:rPr>
              <a:t>698 de 701 pruebas en verde; las tres restantes son de entorno (07-09-2026)</a:t>
            </a:r>
            <a:endParaRPr lang="en-US" sz="1250" dirty="0"/>
          </a:p>
        </p:txBody>
      </p:sp>
      <p:sp>
        <p:nvSpPr>
          <p:cNvPr id="7" name="Shape 5"/>
          <p:cNvSpPr/>
          <p:nvPr/>
        </p:nvSpPr>
        <p:spPr>
          <a:xfrm>
            <a:off x="4270248" y="1828800"/>
            <a:ext cx="3474720" cy="3200400"/>
          </a:xfrm>
          <a:prstGeom prst="roundRect">
            <a:avLst>
              <a:gd name="adj" fmla="val 2571"/>
            </a:avLst>
          </a:prstGeom>
          <a:solidFill>
            <a:srgbClr val="2A3646"/>
          </a:solidFill>
          <a:ln w="12700">
            <a:solidFill>
              <a:srgbClr val="2A3646"/>
            </a:solidFill>
            <a:prstDash val="solid"/>
          </a:ln>
        </p:spPr>
      </p:sp>
      <p:sp>
        <p:nvSpPr>
          <p:cNvPr id="8" name="Text 6"/>
          <p:cNvSpPr txBox="1"/>
          <p:nvPr/>
        </p:nvSpPr>
        <p:spPr>
          <a:xfrm>
            <a:off x="4544568" y="2057400"/>
            <a:ext cx="2926080" cy="365760"/>
          </a:xfrm>
          <a:prstGeom prst="rect">
            <a:avLst/>
          </a:prstGeom>
          <a:noFill/>
          <a:ln/>
        </p:spPr>
        <p:txBody>
          <a:bodyPr wrap="square" lIns="0" tIns="0" rIns="0" bIns="0" rtlCol="0" anchor="ctr"/>
          <a:lstStyle/>
          <a:p>
            <a:pPr indent="0" marL="0">
              <a:buNone/>
            </a:pPr>
            <a:r>
              <a:rPr lang="en-US" sz="1600" b="1" dirty="0">
                <a:solidFill>
                  <a:srgbClr val="F2A65A"/>
                </a:solidFill>
                <a:latin typeface="Calibri" pitchFamily="34" charset="0"/>
                <a:ea typeface="Calibri" pitchFamily="34" charset="-122"/>
                <a:cs typeface="Calibri" pitchFamily="34" charset="-120"/>
              </a:rPr>
              <a:t>Deuda conocida</a:t>
            </a:r>
            <a:endParaRPr lang="en-US" sz="1600" dirty="0"/>
          </a:p>
        </p:txBody>
      </p:sp>
      <p:sp>
        <p:nvSpPr>
          <p:cNvPr id="9" name="Text 7"/>
          <p:cNvSpPr txBox="1"/>
          <p:nvPr/>
        </p:nvSpPr>
        <p:spPr>
          <a:xfrm>
            <a:off x="4544568" y="2560320"/>
            <a:ext cx="2971800" cy="2286000"/>
          </a:xfrm>
          <a:prstGeom prst="rect">
            <a:avLst/>
          </a:prstGeom>
          <a:noFill/>
          <a:ln/>
        </p:spPr>
        <p:txBody>
          <a:bodyPr wrap="square" lIns="0" tIns="0" rIns="0" bIns="0" rtlCol="0" anchor="t"/>
          <a:lstStyle/>
          <a:p>
            <a:pPr marL="342900" indent="-342900">
              <a:lnSpc>
                <a:spcPts val="1600"/>
              </a:lnSpc>
              <a:spcAft>
                <a:spcPts val="1000"/>
              </a:spcAft>
              <a:buSzPct val="100000"/>
              <a:buChar char="•"/>
            </a:pPr>
            <a:r>
              <a:rPr lang="en-US" sz="1250" dirty="0">
                <a:solidFill>
                  <a:srgbClr val="D7DDE4"/>
                </a:solidFill>
                <a:latin typeface="Calibri" pitchFamily="34" charset="0"/>
                <a:ea typeface="Calibri" pitchFamily="34" charset="-122"/>
                <a:cs typeface="Calibri" pitchFamily="34" charset="-120"/>
              </a:rPr>
              <a:t>Sin ESLint ni Prettier, sin CI y sin cobertura</a:t>
            </a:r>
            <a:endParaRPr lang="en-US" sz="1250" dirty="0"/>
          </a:p>
          <a:p>
            <a:pPr marL="342900" indent="-342900">
              <a:lnSpc>
                <a:spcPts val="1600"/>
              </a:lnSpc>
              <a:spcAft>
                <a:spcPts val="1000"/>
              </a:spcAft>
              <a:buSzPct val="100000"/>
              <a:buChar char="•"/>
            </a:pPr>
            <a:r>
              <a:rPr lang="en-US" sz="1250" dirty="0">
                <a:solidFill>
                  <a:srgbClr val="D7DDE4"/>
                </a:solidFill>
                <a:latin typeface="Calibri" pitchFamily="34" charset="0"/>
                <a:ea typeface="Calibri" pitchFamily="34" charset="-122"/>
                <a:cs typeface="Calibri" pitchFamily="34" charset="-120"/>
              </a:rPr>
              <a:t>checkJs desactivado y vulnerabilidades pendientes en dependencias</a:t>
            </a:r>
            <a:endParaRPr lang="en-US" sz="1250" dirty="0"/>
          </a:p>
          <a:p>
            <a:pPr marL="342900" indent="-342900">
              <a:lnSpc>
                <a:spcPts val="1600"/>
              </a:lnSpc>
              <a:spcAft>
                <a:spcPts val="1000"/>
              </a:spcAft>
              <a:buSzPct val="100000"/>
              <a:buChar char="•"/>
            </a:pPr>
            <a:r>
              <a:rPr lang="en-US" sz="1250" dirty="0">
                <a:solidFill>
                  <a:srgbClr val="D7DDE4"/>
                </a:solidFill>
                <a:latin typeface="Calibri" pitchFamily="34" charset="0"/>
                <a:ea typeface="Calibri" pitchFamily="34" charset="-122"/>
                <a:cs typeface="Calibri" pitchFamily="34" charset="-120"/>
              </a:rPr>
              <a:t>Tres features siguen compartiendo el panel de captura de selector</a:t>
            </a:r>
            <a:endParaRPr lang="en-US" sz="1250" dirty="0"/>
          </a:p>
        </p:txBody>
      </p:sp>
      <p:sp>
        <p:nvSpPr>
          <p:cNvPr id="10" name="Shape 8"/>
          <p:cNvSpPr/>
          <p:nvPr/>
        </p:nvSpPr>
        <p:spPr>
          <a:xfrm>
            <a:off x="7973568" y="1828800"/>
            <a:ext cx="3474720" cy="3200400"/>
          </a:xfrm>
          <a:prstGeom prst="roundRect">
            <a:avLst>
              <a:gd name="adj" fmla="val 2571"/>
            </a:avLst>
          </a:prstGeom>
          <a:solidFill>
            <a:srgbClr val="2A3646"/>
          </a:solidFill>
          <a:ln w="12700">
            <a:solidFill>
              <a:srgbClr val="2A3646"/>
            </a:solidFill>
            <a:prstDash val="solid"/>
          </a:ln>
        </p:spPr>
      </p:sp>
      <p:sp>
        <p:nvSpPr>
          <p:cNvPr id="11" name="Text 9"/>
          <p:cNvSpPr txBox="1"/>
          <p:nvPr/>
        </p:nvSpPr>
        <p:spPr>
          <a:xfrm>
            <a:off x="8247888" y="2057400"/>
            <a:ext cx="292608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Qué sigue</a:t>
            </a:r>
            <a:endParaRPr lang="en-US" sz="1600" dirty="0"/>
          </a:p>
        </p:txBody>
      </p:sp>
      <p:sp>
        <p:nvSpPr>
          <p:cNvPr id="12" name="Text 10"/>
          <p:cNvSpPr txBox="1"/>
          <p:nvPr/>
        </p:nvSpPr>
        <p:spPr>
          <a:xfrm>
            <a:off x="8247888" y="2560320"/>
            <a:ext cx="2971800" cy="2286000"/>
          </a:xfrm>
          <a:prstGeom prst="rect">
            <a:avLst/>
          </a:prstGeom>
          <a:noFill/>
          <a:ln/>
        </p:spPr>
        <p:txBody>
          <a:bodyPr wrap="square" lIns="0" tIns="0" rIns="0" bIns="0" rtlCol="0" anchor="t"/>
          <a:lstStyle/>
          <a:p>
            <a:pPr marL="342900" indent="-342900">
              <a:lnSpc>
                <a:spcPts val="1600"/>
              </a:lnSpc>
              <a:spcAft>
                <a:spcPts val="1000"/>
              </a:spcAft>
              <a:buSzPct val="100000"/>
              <a:buChar char="•"/>
            </a:pPr>
            <a:r>
              <a:rPr lang="en-US" sz="1250" dirty="0">
                <a:solidFill>
                  <a:srgbClr val="D7DDE4"/>
                </a:solidFill>
                <a:latin typeface="Calibri" pitchFamily="34" charset="0"/>
                <a:ea typeface="Calibri" pitchFamily="34" charset="-122"/>
                <a:cs typeface="Calibri" pitchFamily="34" charset="-120"/>
              </a:rPr>
              <a:t>Replay del borrador determinista por caso golden</a:t>
            </a:r>
            <a:endParaRPr lang="en-US" sz="1250" dirty="0"/>
          </a:p>
          <a:p>
            <a:pPr marL="342900" indent="-342900">
              <a:lnSpc>
                <a:spcPts val="1600"/>
              </a:lnSpc>
              <a:spcAft>
                <a:spcPts val="1000"/>
              </a:spcAft>
              <a:buSzPct val="100000"/>
              <a:buChar char="•"/>
            </a:pPr>
            <a:r>
              <a:rPr lang="en-US" sz="1250" dirty="0">
                <a:solidFill>
                  <a:srgbClr val="D7DDE4"/>
                </a:solidFill>
                <a:latin typeface="Calibri" pitchFamily="34" charset="0"/>
                <a:ea typeface="Calibri" pitchFamily="34" charset="-122"/>
                <a:cs typeface="Calibri" pitchFamily="34" charset="-120"/>
              </a:rPr>
              <a:t>Entrada «guardar como dataset» desde el historial de grabaciones</a:t>
            </a:r>
            <a:endParaRPr lang="en-US" sz="1250" dirty="0"/>
          </a:p>
          <a:p>
            <a:pPr marL="342900" indent="-342900">
              <a:lnSpc>
                <a:spcPts val="1600"/>
              </a:lnSpc>
              <a:spcAft>
                <a:spcPts val="1000"/>
              </a:spcAft>
              <a:buSzPct val="100000"/>
              <a:buChar char="•"/>
            </a:pPr>
            <a:r>
              <a:rPr lang="en-US" sz="1250" dirty="0">
                <a:solidFill>
                  <a:srgbClr val="D7DDE4"/>
                </a:solidFill>
                <a:latin typeface="Calibri" pitchFamily="34" charset="0"/>
                <a:ea typeface="Calibri" pitchFamily="34" charset="-122"/>
                <a:cs typeface="Calibri" pitchFamily="34" charset="-120"/>
              </a:rPr>
              <a:t>Plan de evaluación de agentes ya documentado, por ejecutar</a:t>
            </a:r>
            <a:endParaRPr lang="en-US" sz="1250" dirty="0"/>
          </a:p>
        </p:txBody>
      </p:sp>
      <p:sp>
        <p:nvSpPr>
          <p:cNvPr id="13" name="Text 11"/>
          <p:cNvSpPr txBox="1"/>
          <p:nvPr/>
        </p:nvSpPr>
        <p:spPr>
          <a:xfrm>
            <a:off x="566928" y="5394960"/>
            <a:ext cx="11064240" cy="457200"/>
          </a:xfrm>
          <a:prstGeom prst="rect">
            <a:avLst/>
          </a:prstGeom>
          <a:noFill/>
          <a:ln/>
        </p:spPr>
        <p:txBody>
          <a:bodyPr wrap="square" lIns="0" tIns="0" rIns="0" bIns="0" rtlCol="0" anchor="ctr"/>
          <a:lstStyle/>
          <a:p>
            <a:pPr indent="0" marL="0">
              <a:buNone/>
            </a:pPr>
            <a:r>
              <a:rPr lang="en-US" sz="1300" i="1" dirty="0">
                <a:solidFill>
                  <a:srgbClr val="9AA6B2"/>
                </a:solidFill>
                <a:latin typeface="Calibri" pitchFamily="34" charset="0"/>
                <a:ea typeface="Calibri" pitchFamily="34" charset="-122"/>
                <a:cs typeface="Calibri" pitchFamily="34" charset="-120"/>
              </a:rPr>
              <a:t>Los cuatro diagramas interactivos —arquitectura, pipeline multi-agente, cadena de las cuatro capas y ciclo golden— se abren aparte desde docs/diagrams.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Appium Visual Recorder</dc:title>
  <dc:subject>PptxGenJS Presentation</dc:subject>
  <dc:creator>Kevin Arnold</dc:creator>
  <cp:lastModifiedBy>Kevin Arnold</cp:lastModifiedBy>
  <cp:revision>1</cp:revision>
  <dcterms:created xsi:type="dcterms:W3CDTF">2026-09-07T17:58:05Z</dcterms:created>
  <dcterms:modified xsi:type="dcterms:W3CDTF">2026-09-07T17:58:05Z</dcterms:modified>
</cp:coreProperties>
</file>